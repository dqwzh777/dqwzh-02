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0fbef2d665b440e" /><Relationship Type="http://schemas.openxmlformats.org/officeDocument/2006/relationships/extended-properties" Target="/docProps/app.xml" Id="R6e45bc8d06cd42b7" /><Relationship Type="http://schemas.openxmlformats.org/officeDocument/2006/relationships/officeDocument" Target="/ppt/presentation.xml" Id="R71d2ae7322e2484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b32db95c03943e8"/>
  </p:sldMasterIdLst>
  <p:notesMasterIdLst>
    <p:notesMasterId xmlns:r="http://schemas.openxmlformats.org/officeDocument/2006/relationships" r:id="Rfbd292faf3b54821"/>
  </p:notesMasterIdLst>
  <p:sldIdLst>
    <p:sldId xmlns:r="http://schemas.openxmlformats.org/officeDocument/2006/relationships" id="256" r:id="R3d7bf189b4dc492a"/>
    <p:sldId xmlns:r="http://schemas.openxmlformats.org/officeDocument/2006/relationships" id="257" r:id="R3c497980e37b4314"/>
    <p:sldId xmlns:r="http://schemas.openxmlformats.org/officeDocument/2006/relationships" id="258" r:id="R6b8dc91ef62e4ca3"/>
    <p:sldId xmlns:r="http://schemas.openxmlformats.org/officeDocument/2006/relationships" id="259" r:id="Rd2b4e160720747ad"/>
    <p:sldId xmlns:r="http://schemas.openxmlformats.org/officeDocument/2006/relationships" id="260" r:id="R515d07076ab1405c"/>
    <p:sldId xmlns:r="http://schemas.openxmlformats.org/officeDocument/2006/relationships" id="261" r:id="R2cb53a05d0ce4b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22f501aefef4358" /><Relationship Type="http://schemas.openxmlformats.org/officeDocument/2006/relationships/slideMaster" Target="/ppt/slideMasters/slideMaster1.xml" Id="Rfb32db95c03943e8" /><Relationship Type="http://schemas.openxmlformats.org/officeDocument/2006/relationships/notesMaster" Target="/ppt/notesMasters/notesMaster1.xml" Id="Rfbd292faf3b54821" /><Relationship Type="http://schemas.openxmlformats.org/officeDocument/2006/relationships/presProps" Target="/ppt/presProps.xml" Id="Ref81de6e08ae4db3" /><Relationship Type="http://schemas.openxmlformats.org/officeDocument/2006/relationships/tableStyles" Target="/ppt/tableStyles.xml" Id="R6ad16468299c4631" /><Relationship Type="http://schemas.openxmlformats.org/officeDocument/2006/relationships/slide" Target="/ppt/slides/slide1.xml" Id="R3d7bf189b4dc492a" /><Relationship Type="http://schemas.openxmlformats.org/officeDocument/2006/relationships/slide" Target="/ppt/slides/slide2.xml" Id="R3c497980e37b4314" /><Relationship Type="http://schemas.openxmlformats.org/officeDocument/2006/relationships/slide" Target="/ppt/slides/slide3.xml" Id="R6b8dc91ef62e4ca3" /><Relationship Type="http://schemas.openxmlformats.org/officeDocument/2006/relationships/slide" Target="/ppt/slides/slide4.xml" Id="Rd2b4e160720747ad" /><Relationship Type="http://schemas.openxmlformats.org/officeDocument/2006/relationships/slide" Target="/ppt/slides/slide5.xml" Id="R515d07076ab1405c" /><Relationship Type="http://schemas.openxmlformats.org/officeDocument/2006/relationships/slide" Target="/ppt/slides/slide6.xml" Id="R2cb53a05d0ce4b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f879ac98b4474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a1a1eba4849485b" /><Relationship Type="http://schemas.openxmlformats.org/officeDocument/2006/relationships/notesMaster" Target="/ppt/notesMasters/notesMaster1.xml" Id="R14ce33a281a14f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9da758e57d4a7d" /><Relationship Type="http://schemas.openxmlformats.org/officeDocument/2006/relationships/notesMaster" Target="/ppt/notesMasters/notesMaster1.xml" Id="R1c447d15e7a243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ed7cfca36ce4b99" /><Relationship Type="http://schemas.openxmlformats.org/officeDocument/2006/relationships/notesMaster" Target="/ppt/notesMasters/notesMaster1.xml" Id="R30825bed659c4f4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ee6ccaca31742d4" /><Relationship Type="http://schemas.openxmlformats.org/officeDocument/2006/relationships/notesMaster" Target="/ppt/notesMasters/notesMaster1.xml" Id="Ra4a650c989fa458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25780a44035425f" /><Relationship Type="http://schemas.openxmlformats.org/officeDocument/2006/relationships/notesMaster" Target="/ppt/notesMasters/notesMaster1.xml" Id="R0b732d014c964a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c3028712bb04bd6" /><Relationship Type="http://schemas.openxmlformats.org/officeDocument/2006/relationships/notesMaster" Target="/ppt/notesMasters/notesMaster1.xml" Id="Rfc92221e5ffc4f1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7287e29c6f4ab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cf0bae4e9c94a26" /><Relationship Type="http://schemas.openxmlformats.org/officeDocument/2006/relationships/slideLayout" Target="/ppt/slideLayouts/slideLayout1.xml" Id="Rd7fa950fb3a141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7fa950fb3a141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78066d4ab04bc7" /><Relationship Type="http://schemas.openxmlformats.org/officeDocument/2006/relationships/notesSlide" Target="/ppt/notesSlides/notesSlide1.xml" Id="R1cf35b9a6ca64af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13f0f09de4e2b" /><Relationship Type="http://schemas.openxmlformats.org/officeDocument/2006/relationships/notesSlide" Target="/ppt/notesSlides/notesSlide2.xml" Id="R40de9a2560ae400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bdefa31ed84427" /><Relationship Type="http://schemas.openxmlformats.org/officeDocument/2006/relationships/notesSlide" Target="/ppt/notesSlides/notesSlide3.xml" Id="Rb9d7996760f749d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51cdbe01fb4a13" /><Relationship Type="http://schemas.openxmlformats.org/officeDocument/2006/relationships/notesSlide" Target="/ppt/notesSlides/notesSlide4.xml" Id="R6a227e5962074e0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ebeb57fc6c4e1c" /><Relationship Type="http://schemas.openxmlformats.org/officeDocument/2006/relationships/notesSlide" Target="/ppt/notesSlides/notesSlide5.xml" Id="R38c292e98f404b9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ab2a097a124c14" /><Relationship Type="http://schemas.openxmlformats.org/officeDocument/2006/relationships/notesSlide" Target="/ppt/notesSlides/notesSlide6.xml" Id="Raf2c8638c14346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C7548AA-40AC-4A97-9265-D660863A0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88A04A-8E2C-4DD7-BB56-2FCC769FF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3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BE34DF-E75E-4343-AA56-7CF3C44D8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3D6DFA-6545-438C-B123-6C5B7ABBB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F09E20-30CB-42F4-8889-EC2159E14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0"/>
            <a:ext cx="2762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39B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D5BB8-708F-4960-8D8B-A0220C71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6B0229C-E206-4719-AE19-54238D7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7239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4F5B43-9039-4F8F-B391-B5B2BF53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1EC87E-E34E-4F47-948C-C300AA8E8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952500"/>
            <a:ext cx="1333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358ED6-8D0E-4A0B-9E7E-4A63282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7143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Liang Yu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5084AF-760C-473F-8F72-85337E00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00965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533544-E36C-4421-97AE-9BAF19A7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28800"/>
            <a:ext cx="2571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私域项目运营中台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A195B9-3CCF-4028-9098-C07776554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533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下一阶段</a:t>
            </a:r>
          </a:p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4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功能升级建议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AB4F05-DF64-479A-BC44-C7E4978B5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76750"/>
            <a:ext cx="4953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93A4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6E6D26-D564-41C8-AA1A-F6A3220E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14875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从客资管理，继续走向获客、承接、培育和成交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7A07F4-1E7F-4C26-BF98-539A8AE85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215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991072-7B0E-4C97-9669-99F1050A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192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良域擎动 · 私域项目运营中台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7AF9D4-7B8C-4505-AB74-9F9EB7A2D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38350"/>
            <a:ext cx="3429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客户功能升级提案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0198BF7-A28F-48E8-B1CB-4997621C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724150"/>
            <a:ext cx="34290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FF3DB55-1673-4B93-984F-B7D196212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0480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474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从客资进入，到成交结果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54B7C14-4A2E-4A76-A8F1-974384F4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4290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下一阶段功能方向与立项建议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D98158-2D5D-4534-9675-13C1F47BB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628650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</p:spTree>
    <p:extLst>
      <p:ext uri="{BB962C8B-B14F-4D97-AF65-F5344CB8AC3E}">
        <p14:creationId xmlns:p14="http://schemas.microsoft.com/office/powerpoint/2010/main" val="128122813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C8F2AE0-68F5-47CF-A176-C3B6FC5A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EDEF59-1C88-4486-AECA-0B44E58E6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A7D686-E5BD-4B63-A5F6-B052AA86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当前基础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F627FF-5A87-453F-B3EA-2CB2BBE3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现有系统已经能承接一条完整客户链路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885169-E217-4A92-8CE9-404B79F84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3F4A8BA-9289-4843-93D2-EC4F51B3D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EE364A-4EA6-44EA-80CC-A4C432A83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D75CB0-22CE-48DC-AEBA-68E9F27D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B25D9A-D3B9-4F79-A936-971ACE24D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系统已经具备项目试用和日常管理条件。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F3D2C-93F9-4B4B-904A-65666F4FB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客资进入以后，有记录、有人负责、过程可追踪，项目负责人能看进度，管理者能看结果。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5E41FF-F715-4373-8FAF-705FF4FF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47212-DC71-4C27-BCF3-5C084AF0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68E240-7F34-4DBC-B530-7C1FB9255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客资进入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95151F-D8EF-4C58-8694-50003DE8C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CC3236-39E5-4EBC-9E29-316D8597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E10AC1-6502-445D-B07D-40CEB9ED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A851842-9CB8-4296-90ED-657BEDF3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分配负责人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BCE9D0-C4A7-4E1D-BD2F-366204B5A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BC67CC-F8EF-4BDE-A98D-843CF7816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EEEC6F-7D2E-4E81-A4DA-E481D5E42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E99863-B296-41C9-8AB2-42C0B806D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跟进记录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CC28AC-0FCC-44A9-91E9-CAB899493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E2B8302-D3BA-4A0A-B087-F3E20B605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420603-A9E5-40C8-90F9-05E98982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0416A4-39F9-4344-8CF2-8A89F34D5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报价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3F143D4-4983-4741-ACAB-87B98FD29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10A3C6-1847-467B-BC59-371E7BB5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CDECA42-6DEE-4D81-AD54-E8D31A210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4736F68-574E-4F79-80B4-0AC929E45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成交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6354EB-9088-45CA-9F7B-D6B8A0F1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648075"/>
            <a:ext cx="12382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B82A28-5C1A-4982-B2A6-8E94E194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429000"/>
            <a:ext cx="438150" cy="4381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EFEBA7-8419-4AB1-86A0-922D7653A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54330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7778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90E7EE-7ECF-45FE-B049-5063E5F1B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5765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回款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695E1B7-18FD-4CE4-8E1C-526375EEA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B57ABAB-F5EF-4138-993E-492DA2284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客户与项目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74543FB-CD5A-41C7-A7EA-EE6E6902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客户资料、项目、人员和权限统一管理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22AED56-8E50-420A-A6E1-2ECD49506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跟进与结果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59A967-18F8-4C94-BE13-83A515520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分配、转交、跟进、成交和回款均可留痕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C0246C-BDDB-4F41-AD37-7404BE12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334000"/>
            <a:ext cx="2381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管理与追溯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E58F0B5-E45F-48A5-AE16-713E2EAE3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197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审批、凭证、导入确认和关键操作可追溯</a:t>
            </a:r>
          </a:p>
        </p:txBody>
      </p:sp>
    </p:spTree>
    <p:extLst>
      <p:ext uri="{BB962C8B-B14F-4D97-AF65-F5344CB8AC3E}">
        <p14:creationId xmlns:p14="http://schemas.microsoft.com/office/powerpoint/2010/main" val="19733356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BDA5A1-9532-4C0E-8CC3-994C22C98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934FB5-313B-45BE-BEAA-8D16F9A36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767BB5-C7B8-4607-A777-6468F97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新增入口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1FFB5-D323-4B76-9722-18D9E877D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抖音接入后，前端客资进入统一管理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58B00-EFDE-4F5F-90E4-CFE04D29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BD5A4-3702-4AB9-A1E9-5211264B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C7A67C-C696-4225-87AA-792FB8C3B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D54B65-E07B-4FA7-A491-D4ED9791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C77316-712F-419B-BFF6-64D305F61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第一步先跑通一个账号、一个项目和一批样例。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206874-E032-4B71-B059-5F52EFD71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09800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会上确认范围，细节由双方技术人员会后对接。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8E4CB5-CD9A-434A-877D-32F4EBBB5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109728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8F3266-1018-4E47-93AE-0323EB6B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06BFC8-3D11-4AC4-88C1-A9465E4ED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抖音账号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72677D-4591-44D4-868D-BEB581118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直播 / 表单 / 投放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1A933D-C953-41E7-A5EB-48177E426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B80A7D-7CF9-4AB6-A32F-7321503E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9525">
            <a:solidFill>
              <a:srgbClr val="071B5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5EE0676-4839-44E5-A6A0-7B71E023F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良域擎动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34DB03-265C-42C8-A245-B94BA938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C9D2FF"/>
                </a:solidFill>
                <a:latin typeface="Helvetica Neue"/>
                <a:ea typeface="Helvetica Neue"/>
                <a:cs typeface="Helvetica Neue"/>
              </a:rPr>
              <a:t>接收、映射、留痕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1E5F9B-3068-4AE0-AE7F-D43BDB830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676650"/>
            <a:ext cx="1143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E9D158-2243-4849-BFDB-33FA01F9B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43250"/>
            <a:ext cx="24765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7F5829-B577-43D8-9E9E-D4D5F9331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52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项目负责人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9686A29-ADFD-4A1B-8E15-6202160E9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705225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认领、跟进、转化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E6A72C-D8D9-4641-B0B2-00C5C3C1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需要客户配合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35814-462F-4ED7-A3E3-927E0DCEC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首批账号  /  对应项目  /  样例数据或接口条件  /  字段口径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EC4EF01-8615-4650-8F60-FDAEAF8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会后确认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5E8880-3D61-4CFE-9691-DEDD40D1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43625"/>
            <a:ext cx="933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接入方式  ·  重复客资  ·  同步周期  ·  失败重试  ·  授权边界</a:t>
            </a:r>
          </a:p>
        </p:txBody>
      </p:sp>
    </p:spTree>
    <p:extLst>
      <p:ext uri="{BB962C8B-B14F-4D97-AF65-F5344CB8AC3E}">
        <p14:creationId xmlns:p14="http://schemas.microsoft.com/office/powerpoint/2010/main" val="7609160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F8364A-D0FA-42AC-A3F4-DD4282E5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BE0681-0E51-4BD2-9BCE-44DA2F05E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198E11-878F-4BC8-893D-FB19002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渠道经营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67AFD-49DC-4E73-B86B-16F138765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下一步要解决：到底哪个渠道带来了成交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0E0C6E-A1B4-421B-BD35-B37647C7E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3388AA-FD68-48A0-87CE-D29BE3789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F42DCF-A683-48C6-822D-59A59472D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5FA4CF-4DB2-46DB-9DA3-6FC1F1798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E5E301-BF3A-464C-BC5A-EFB8074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把来源和成交结果连起来，才能判断问题出在哪里。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6C71AFE-3388-47A4-AED4-E24A501BB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109728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2EF484-47CE-42CA-84BE-0C8DD104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428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0674ED-AEB2-422A-8855-7D34F8DE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6125"/>
            <a:ext cx="1276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账号 / 视频 / 直播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4021C9-60C4-45CC-BD2D-DA796C9D8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400425"/>
            <a:ext cx="36195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3C093A-0288-4FE4-B55C-81A6BD200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FFF220-7DB9-478A-974F-995433E45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客资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345A22-50EE-4C62-B22B-13825508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6CD676A-E6B4-4419-A8E7-761D7D797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CE93F-F210-4B93-AC45-C13F1F182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添加企微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93C1CE-20E2-4E5E-8C1C-64C876DD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D963E99-761A-4E11-9135-3B54BA4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4E614F1-C03A-4A9C-9A41-9F8C688FA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98FF99-70ED-4D4F-BEDC-8FB08361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400425"/>
            <a:ext cx="381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FACA1B-236F-4E4D-92F6-CA7E5913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C717C0B-7289-48FE-B1C1-8A435EF9A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到访 / 寄样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EE7AAF-6B13-4BCC-B245-3D798B18C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00425"/>
            <a:ext cx="619125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2B5FBA0-4B8E-4B10-A426-513693F90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3067050"/>
            <a:ext cx="1238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9525">
            <a:solidFill>
              <a:srgbClr val="2348F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595C1F7-1B81-43F9-80AA-2062E291A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3286125"/>
            <a:ext cx="10858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回款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D7F5E5-40BF-4CA0-807B-F9FEB31A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客户能看到的结果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9CEC3D8-0DA4-4962-B4B7-C698C7F0D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B9534E-7FF5-4938-AAB9-E5FA84DC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来源客资数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FB61BC3-BBDD-4FF5-BE0D-DB174ACB6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按账号、项目和来源查看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4341248-E3B5-482F-8E83-C82AF6BD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2348F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BD1DAFF-E02E-4066-A5DB-30088E74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承接与成交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AB9C715-1B25-4A0E-9B87-9D8444F0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看添加、沟通、到访和成交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5791C4-BC83-4709-9951-98661014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105400"/>
            <a:ext cx="28575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D8D5CD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6C3656D-0D9C-40B9-BDFF-CD03FA3D1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257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问题定位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D81FD3E-4E65-4710-99DD-1E47FFCE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6007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区分流量、质量和跟进问题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4251FA0-A2F2-4938-B495-DC15BA6E7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投放成本和 ROI 可作为后续扩展口径，需结合客户数据条件确认。</a:t>
            </a:r>
          </a:p>
        </p:txBody>
      </p:sp>
    </p:spTree>
    <p:extLst>
      <p:ext uri="{BB962C8B-B14F-4D97-AF65-F5344CB8AC3E}">
        <p14:creationId xmlns:p14="http://schemas.microsoft.com/office/powerpoint/2010/main" val="1370854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8CA9425-81A9-4392-B24A-53413D399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9A1E7F-D7D1-4CD4-AA04-794864F5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277301-4C05-401F-B58B-E4F5646CD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私域承接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C37F46-FC5A-4298-99FB-12A1DA561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下一步要解决：客户加企微后有没有真正被承接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B68893-D9A1-4769-B96B-44393A36C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B681D-94B6-40F4-80CE-F0282093C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CC19E5-1177-4208-89E9-DA322234C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134BB8-685E-4010-B9EA-E05FF97A4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533038-AFE8-46E3-9FF5-6BC20C36D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781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889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项目群里发过消息，不等于客户已经进入沟通。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5311FA-F005-4E14-8CF2-D4F8C709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109728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1BC2A9-C5B5-4608-ABB4-64E4CCF04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60EF8B-178C-41F1-9684-9A42FA53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82B949-F22B-49F7-9CD2-9B434DC5B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已分配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5D3BC8-F310-4772-BF6C-63C8D038C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B18B59-82DC-4B4D-A583-2BEFDF21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4C8050-35D3-4AC1-8211-93C556E9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806E71-AC27-4A2C-A637-33356C0D6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已认领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9E9132-1AB6-4C3B-AAA4-402BA9F32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BDFF3-2060-4B11-96F0-271801F9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03C0162-1D22-454D-B744-5460AE04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7926CA8-2346-4D38-BAC9-3F1BEE0A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已添加企微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D9F47F-72FD-4589-9A8B-837DFE954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ECD3C0-9A8E-4A7E-8048-1D1369BA7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6575E5-F11E-4522-A157-4E8C4CE9D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639AAD-E5DA-4109-A36F-A3715B7CD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客户通过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253C31-5CDD-4085-B198-1894095CC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74AD069-204B-45F1-8436-CA8C8931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48977-F881-45B9-A2A8-20E9F78E7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26F9A2-8550-4FFA-8822-402A8928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首次沟通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8200D-4145-4430-BE2F-1148B6B4B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05150"/>
            <a:ext cx="14097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AAB5D9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6EE79B5-9985-4B6D-B4AF-37B8AE752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9051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9D2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10F26B-1745-4E62-B8E3-641A498F5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009900"/>
            <a:ext cx="400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3CD259D-746C-423A-9FD9-686D6393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34480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持续跟进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34A1ED-4374-47C7-A323-8B5ECA7FF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A980B4-D7CE-4F0F-8A95-D26555B7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86300"/>
            <a:ext cx="3143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可以形成的管理视图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F915B78-B500-4F54-9121-F38C36AB8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971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未添加名单   ·   超时未首次沟通   ·   响应时长   ·   项目承接对比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85E0EBA-9C16-4C00-B204-74481DCAA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971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050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前提：客户确认企业微信主体、可用接口或第三方能力，以及数据授权范围。</a:t>
            </a:r>
          </a:p>
        </p:txBody>
      </p:sp>
    </p:spTree>
    <p:extLst>
      <p:ext uri="{BB962C8B-B14F-4D97-AF65-F5344CB8AC3E}">
        <p14:creationId xmlns:p14="http://schemas.microsoft.com/office/powerpoint/2010/main" val="11368856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3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3971CEA-7FEE-4274-83EA-5976831DC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B2475D-32FF-4EAB-BE54-B19ECA475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" y="0"/>
            <a:ext cx="120967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EE976-0375-4FC4-BF72-B8F269B95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342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00" b="1">
                <a:solidFill>
                  <a:srgbClr val="2348FF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0B00E5-C7F4-4278-9DE0-5F8835EF3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62000"/>
            <a:ext cx="10001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285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下一步要解决：未成交客户如何持续经营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4E324B-CDCA-4016-B9B6-49DD9449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6100" y="514350"/>
            <a:ext cx="762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 algn="r">
              <a:def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E8E4D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373E2C-2F59-4AE1-82BD-5C9BEF725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858000" cy="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2348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CA4999-3671-4390-BBC4-D12DD08DB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477000"/>
            <a:ext cx="228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LIANG YU ENGINE  /  CRM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3628F1-BB8F-4ACF-B2F1-AC69FF17B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64770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82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E88010-1736-4DFF-ACE5-254AEF2FE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把客户按状态分开经营，减少漏跟，也让一次性线索有机会变成长期客户。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2E7B62-2D11-425D-B105-C57FD180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分层依据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07F12-C4B1-4EE6-A959-DF6D3DB4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74CA4-F1DD-4828-A066-4AB326A5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来源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2F22B-6D13-4143-BEE8-9C2F9B743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3AA975-E0B7-4593-9451-9695C0680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意向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547C0A-8183-4EE9-A564-8EA6CA0BF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0480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146525-ABE0-425C-B81B-570A0911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1146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是否加企微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8D1A31-0B2E-4C6B-B93F-BBCF5A16B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474AFC-6726-49B1-905A-D0B5C91C2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是否到访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BA4060-3EA3-4021-B451-764A841C9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E000E9C-7358-4E5D-91A4-E94761C9D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最近联系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802A7-A599-4B54-B38E-569E6532C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05200"/>
            <a:ext cx="914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419295-BA28-4D2C-A50A-B1845C874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3571875"/>
            <a:ext cx="914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 / 复购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F6E412-D208-451D-B8E5-536E0630C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64795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588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71B55"/>
                </a:solidFill>
                <a:latin typeface="Helvetica Neue"/>
                <a:ea typeface="Helvetica Neue"/>
                <a:cs typeface="Helvetica Neue"/>
              </a:rPr>
              <a:t>培育场景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5C01CB-1000-465E-9FB3-D1271E752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48FF"/>
          </a:solidFill>
          <a:ln xmlns:a="http://schemas.openxmlformats.org/drawingml/2006/main" w="0">
            <a:solidFill>
              <a:srgbClr val="2348FF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BD6FEC-8E6D-4F26-8B8F-49C2987DB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新客欢迎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0DD505B-6768-416B-A1CD-20B3BD2A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0480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49FD463-1242-4015-AF21-54CC882C9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146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未响应补联系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6FE85-C4C0-4825-90B5-D90216321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15A30B-DA87-44F0-ACAF-0376A881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到访后回访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170A84F-3AE8-4DC7-9631-0256E280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3F5572-3473-40B2-8F11-65FE70B7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718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长期培育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EB345D-25A0-46C3-99D7-3B2D8BB39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F6A43E-AB32-47D4-A826-BB48D624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沉默唤醒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51D60E3-E344-4BDD-9C2E-3EB1E0CC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962400"/>
            <a:ext cx="1809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B55"/>
          </a:solidFill>
          <a:ln xmlns:a="http://schemas.openxmlformats.org/drawingml/2006/main" w="0">
            <a:solidFill>
              <a:srgbClr val="071B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E12E9F-2FB5-463F-9287-06C5613A8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0290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成交后复购 / 转介绍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FD782C5-93A6-421F-BE62-47743B412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9728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8D5CD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7272921-236F-4E0B-AA23-60C6C06C8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任务管理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4276207-4240-44E9-9426-CAF9A0B2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48250"/>
            <a:ext cx="2571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安排员工今天做什么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D3AEE01-33D8-4B11-A236-83277351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04825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客户培育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0104108-8911-4F58-A084-24E9985D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0482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0784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101828"/>
                </a:solidFill>
                <a:latin typeface="Helvetica Neue"/>
                <a:ea typeface="Helvetica Neue"/>
                <a:cs typeface="Helvetica Neue"/>
              </a:rPr>
              <a:t>根据客户状态持续经营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91356D-7269-4D65-9CBF-0AA1A134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6B7280"/>
                </a:solidFill>
                <a:latin typeface="Helvetica Neue"/>
                <a:ea typeface="Helvetica Neue"/>
                <a:cs typeface="Helvetica Neue"/>
              </a:rPr>
              <a:t>这两项能力职责不同，可以分阶段规划。</a:t>
            </a:r>
          </a:p>
        </p:txBody>
      </p:sp>
    </p:spTree>
    <p:extLst>
      <p:ext uri="{BB962C8B-B14F-4D97-AF65-F5344CB8AC3E}">
        <p14:creationId xmlns:p14="http://schemas.microsoft.com/office/powerpoint/2010/main" val="81313926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2026-09-14T07:56:29.3740000Z</dcterms:created>
  <dcterms:modified xsi:type="dcterms:W3CDTF">2026-09-14T07:56:29.3740000Z</dcterms:modified>
</coreProperties>
</file>