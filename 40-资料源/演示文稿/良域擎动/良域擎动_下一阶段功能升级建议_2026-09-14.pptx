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51a069bb5143d9" /><Relationship Type="http://schemas.openxmlformats.org/officeDocument/2006/relationships/extended-properties" Target="/docProps/app.xml" Id="R3176a3e633604e53" /><Relationship Type="http://schemas.openxmlformats.org/officeDocument/2006/relationships/officeDocument" Target="/ppt/presentation.xml" Id="R5a1fe23137b0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b237bbbdf45ae"/>
  </p:sldMasterIdLst>
  <p:notesMasterIdLst>
    <p:notesMasterId xmlns:r="http://schemas.openxmlformats.org/officeDocument/2006/relationships" r:id="R888c517ed8ac4e85"/>
  </p:notesMasterIdLst>
  <p:sldIdLst>
    <p:sldId xmlns:r="http://schemas.openxmlformats.org/officeDocument/2006/relationships" id="256" r:id="R61f4712921334781"/>
    <p:sldId xmlns:r="http://schemas.openxmlformats.org/officeDocument/2006/relationships" id="257" r:id="R2df4354ffc9143ac"/>
    <p:sldId xmlns:r="http://schemas.openxmlformats.org/officeDocument/2006/relationships" id="258" r:id="R9a8d7f04c27c4eb7"/>
    <p:sldId xmlns:r="http://schemas.openxmlformats.org/officeDocument/2006/relationships" id="259" r:id="R29d2dad57dd04c16"/>
    <p:sldId xmlns:r="http://schemas.openxmlformats.org/officeDocument/2006/relationships" id="260" r:id="R1914c0827f724c06"/>
    <p:sldId xmlns:r="http://schemas.openxmlformats.org/officeDocument/2006/relationships" id="261" r:id="R770d1e09bc4f4d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721c0b6bc540f3" /><Relationship Type="http://schemas.openxmlformats.org/officeDocument/2006/relationships/slideMaster" Target="/ppt/slideMasters/slideMaster1.xml" Id="R1edb237bbbdf45ae" /><Relationship Type="http://schemas.openxmlformats.org/officeDocument/2006/relationships/notesMaster" Target="/ppt/notesMasters/notesMaster1.xml" Id="R888c517ed8ac4e85" /><Relationship Type="http://schemas.openxmlformats.org/officeDocument/2006/relationships/presProps" Target="/ppt/presProps.xml" Id="R5d2485de6bae40ae" /><Relationship Type="http://schemas.openxmlformats.org/officeDocument/2006/relationships/tableStyles" Target="/ppt/tableStyles.xml" Id="Rb5079ab4602c4436" /><Relationship Type="http://schemas.openxmlformats.org/officeDocument/2006/relationships/slide" Target="/ppt/slides/slide1.xml" Id="R61f4712921334781" /><Relationship Type="http://schemas.openxmlformats.org/officeDocument/2006/relationships/slide" Target="/ppt/slides/slide2.xml" Id="R2df4354ffc9143ac" /><Relationship Type="http://schemas.openxmlformats.org/officeDocument/2006/relationships/slide" Target="/ppt/slides/slide3.xml" Id="R9a8d7f04c27c4eb7" /><Relationship Type="http://schemas.openxmlformats.org/officeDocument/2006/relationships/slide" Target="/ppt/slides/slide4.xml" Id="R29d2dad57dd04c16" /><Relationship Type="http://schemas.openxmlformats.org/officeDocument/2006/relationships/slide" Target="/ppt/slides/slide5.xml" Id="R1914c0827f724c06" /><Relationship Type="http://schemas.openxmlformats.org/officeDocument/2006/relationships/slide" Target="/ppt/slides/slide6.xml" Id="R770d1e09bc4f4d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552a0624bd42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c0bd1f25f443c2" /><Relationship Type="http://schemas.openxmlformats.org/officeDocument/2006/relationships/notesMaster" Target="/ppt/notesMasters/notesMaster1.xml" Id="Re4311839511c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4773b3da114739" /><Relationship Type="http://schemas.openxmlformats.org/officeDocument/2006/relationships/notesMaster" Target="/ppt/notesMasters/notesMaster1.xml" Id="Rddb8c540284844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738788f9204fda" /><Relationship Type="http://schemas.openxmlformats.org/officeDocument/2006/relationships/notesMaster" Target="/ppt/notesMasters/notesMaster1.xml" Id="Re0f03087342242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5f00c27d604e19" /><Relationship Type="http://schemas.openxmlformats.org/officeDocument/2006/relationships/notesMaster" Target="/ppt/notesMasters/notesMaster1.xml" Id="R7f7ba760b49442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c97e6b61ab4878" /><Relationship Type="http://schemas.openxmlformats.org/officeDocument/2006/relationships/notesMaster" Target="/ppt/notesMasters/notesMaster1.xml" Id="R0d89baa3d6cf4e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8c4ed9703648bf" /><Relationship Type="http://schemas.openxmlformats.org/officeDocument/2006/relationships/notesMaster" Target="/ppt/notesMasters/notesMaster1.xml" Id="R28964492f7814c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9519c4bfc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eed05f25f4d19" /><Relationship Type="http://schemas.openxmlformats.org/officeDocument/2006/relationships/slideLayout" Target="/ppt/slideLayouts/slideLayout1.xml" Id="R9f012aac769445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012aac769445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d12defbf0413a" /><Relationship Type="http://schemas.openxmlformats.org/officeDocument/2006/relationships/notesSlide" Target="/ppt/notesSlides/notesSlide1.xml" Id="R26cd6bc68ace4e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081aaf48343db" /><Relationship Type="http://schemas.openxmlformats.org/officeDocument/2006/relationships/notesSlide" Target="/ppt/notesSlides/notesSlide2.xml" Id="R312fa6b895ef41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7530a54994ac4" /><Relationship Type="http://schemas.openxmlformats.org/officeDocument/2006/relationships/notesSlide" Target="/ppt/notesSlides/notesSlide3.xml" Id="Rfe71c6f19edc4e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a5355ad454366" /><Relationship Type="http://schemas.openxmlformats.org/officeDocument/2006/relationships/notesSlide" Target="/ppt/notesSlides/notesSlide4.xml" Id="Rea1228c97fcb4b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f2c49dea44ca5" /><Relationship Type="http://schemas.openxmlformats.org/officeDocument/2006/relationships/notesSlide" Target="/ppt/notesSlides/notesSlide5.xml" Id="R6cfa230c12fb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aac00fe4d4ab4" /><Relationship Type="http://schemas.openxmlformats.org/officeDocument/2006/relationships/notesSlide" Target="/ppt/notesSlides/notesSlide6.xml" Id="Rcd1310cc62fa48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12A46-D83A-4F99-B834-9FBEFBD2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59D5F-A221-4D75-A8F6-792E2C19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7CAF3-BFCC-4A7B-BAD0-C1ED1002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66B33-9D91-4454-B740-8799CD1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C384C-23FA-4D29-BE74-DBFD86BD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C5F7F-3608-483C-A788-B2CC3A40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256B8-3EF8-450D-97AF-E578356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5488A-421E-4438-B259-F56595A5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6B014-0AA2-480A-8B57-CC4BC08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BDC39-EA80-4CB8-872C-CC7ACFF1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68F65-90DA-4389-AD9F-E34B5602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0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CE64E-DE0C-4A3A-B161-C7286FF5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D2FF"/>
                </a:solidFill>
                <a:latin typeface="Helvetica Neue"/>
                <a:ea typeface="Helvetica Neue"/>
                <a:cs typeface="Helvetica Neue"/>
              </a:rPr>
              <a:t>私域项目运营中台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51983-C739-4AB8-996D-79602C88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下一阶段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功能升级建议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0DB82-FD77-45CA-B827-9EC623EF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3A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AA5DF-1162-485A-854F-A098AA75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从客资管理，继续走向获客、承接、培育和成交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7D377-9D4E-4CFD-B60C-D781ED7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70F3B-8609-43F3-B870-0AFA65E3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8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</p:spTree>
    <p:extLst>
      <p:ext uri="{BB962C8B-B14F-4D97-AF65-F5344CB8AC3E}">
        <p14:creationId xmlns:p14="http://schemas.microsoft.com/office/powerpoint/2010/main" val="353871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DC832A-92C2-4BE1-BA10-457F9306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BC668-E97A-420D-A7DD-58064A3F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当前基础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0DBE6-1136-444C-BE59-755DA56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现有系统已经能承接一条完整客户链路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09E64-578E-4404-970B-EDED60CD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6FA22-64E9-4B94-A70E-29070B6F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79ECF-B231-4A04-ADDD-38F62918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BA09F-76A3-479F-82EC-BDF74055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系统已经具备项目试用和日常管理条件。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52CB8-0076-4A40-8CD7-361FDA19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客资进入以后，有记录、有人负责、过程可追踪，项目负责人能看进度，管理者能看结果。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3E4F3-CD3D-4A85-BD2F-0C8A323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2018E-BA81-4244-BEA7-7D366B26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516E4-26E1-427A-B7F0-E7F574B5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客资进入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2DD90-5928-4403-B72A-CBAA26C6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E1105-8691-47F0-BAAB-5EB256CC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81E65-2FEA-4A81-B917-F362D7B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E7932-4B08-4A25-8DDF-F4584C51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分配负责人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6D708-A7EE-4A50-B571-ED7F3FD9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21EB3-1FBC-4161-A124-E5D70A4D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E5E56-EFBE-4354-8560-4815AB4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7510D-35FE-465A-B6D2-AF60340E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跟进记录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47686-11C9-45F6-B140-FAA41E41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10767-E655-4773-83DF-855A54A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EEE84-1C83-44B7-9574-08C2CE6F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C69CC-F76D-484E-853F-988D3E10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到访 / 报价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6CC47-8187-463D-A8A0-0392F23B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F686F-24BF-465B-B959-2ACE9295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3622C-7AFE-4BBF-BC31-F114B39F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8CAA4-9E74-41CA-AE2A-64D19A28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成交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67C94-FDD0-479F-9FBA-4BAC1082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34FD4-0BAA-4A87-A0FC-3B1266F5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8D2C01-7DC6-400F-B1DE-B3965432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EDC82-A861-45E8-B187-FA96487C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回款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10F6C-5CC1-4EF3-9A0A-973D6B1F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6FDABD-5865-4D26-B35E-6C5A24E7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客户与项目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0B7A5D-53B3-4760-9171-9778FB07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客户资料、项目、人员和权限统一管理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D54F50-7DBC-4FAB-A346-C84185C3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跟进与结果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241FF2-9E42-49B3-9569-0D7F7345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分配、转交、跟进、成交和回款均可留痕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26C1BF-CEE5-4B43-9C33-F4FCE01D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管理与追溯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D1C187-94C8-4A86-8EE2-23198655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审批、凭证、导入确认和关键操作可追溯</a:t>
            </a:r>
          </a:p>
        </p:txBody>
      </p:sp>
    </p:spTree>
    <p:extLst>
      <p:ext uri="{BB962C8B-B14F-4D97-AF65-F5344CB8AC3E}">
        <p14:creationId xmlns:p14="http://schemas.microsoft.com/office/powerpoint/2010/main" val="753506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0A7C6-4286-45F7-8FA7-580FB6B5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2CEF3-BF48-467E-861E-D6037E63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新增入口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D74B9-44C7-4826-97FF-080A7421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抖音接入后，前端客资进入统一管理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61959-A255-4C27-849E-02FED8D9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921ED-E6E9-4595-A53F-D68D6AC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AD154-1991-40B4-ADD0-4DD0290A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F2242-302B-4741-8616-A6E536A1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第一步先跑通一个账号、一个项目和一批样例。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3BBCA-0C4A-4DCF-9DC8-FB035C7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会上确认范围，细节由双方技术人员会后对接。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5EA82-37E3-44A4-8A52-E31DC726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25657-1BE9-4089-9E7F-9BAEAFB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抖音账号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9E0F9-E03E-4C35-83CF-2C5D81A4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直播 / 表单 / 投放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3E19F-24CA-4D6E-B706-B68DAF77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76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277F6-42F9-4898-A325-0193DEA4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9525">
            <a:solidFill>
              <a:srgbClr val="071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D32F0-D5FD-4774-A85B-CE6B1C96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F947C-8700-49B6-9767-E5DD75E2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9D2FF"/>
                </a:solidFill>
                <a:latin typeface="Helvetica Neue"/>
                <a:ea typeface="Helvetica Neue"/>
                <a:cs typeface="Helvetica Neue"/>
              </a:rPr>
              <a:t>接收、映射、留痕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B6B39-A696-49B2-A0F9-A7FA800D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0ED49-CA71-4636-B4FA-8BDDE199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CCBF3-73BA-4911-B9B9-BCFD9672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项目负责人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F474F-229F-478B-89E3-E8BB0909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认领、跟进、转化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751B8-12EF-4107-A0D5-71E123F0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需要客户配合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AFA33-7BA9-4C30-83AB-4324B0B4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首批账号  /  对应项目  /  样例数据或接口条件  /  字段口径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9CEFE-EF3B-4544-B7A2-FE7C373B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会后确认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1CA27-454D-45AC-8139-9933D514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接入方式  ·  重复客资  ·  同步周期  ·  失败重试  ·  授权边界</a:t>
            </a:r>
          </a:p>
        </p:txBody>
      </p:sp>
    </p:spTree>
    <p:extLst>
      <p:ext uri="{BB962C8B-B14F-4D97-AF65-F5344CB8AC3E}">
        <p14:creationId xmlns:p14="http://schemas.microsoft.com/office/powerpoint/2010/main" val="129686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1B8404-F4D6-41CC-8C45-803D0538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BD303-A85C-4E63-AA26-80B6E5FA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渠道经营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5F7FA-2EEE-405C-BEEE-52CF90C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下一步要解决：到底哪个渠道带来了成交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D86DE-E530-40BB-B04E-C3B0EDD3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0C6B5-1CB8-4247-97FE-D58BAE9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3C878-F1DC-414B-B418-FAB777D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157E5-8597-4D9B-B8E3-E8AFE51F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把来源和成交结果连起来，才能判断问题出在哪里。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CCC83-EA0A-4050-8B1A-CB3715C4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52566-CE27-44CC-8446-70123AA8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账号 / 视频 / 直播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9EFD3-F0E1-4B1B-A162-A0F05EAE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57F8E-A064-4AAB-9DDB-4CF067DC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D644C-8DBE-4F8D-B7AB-2B4959B7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36DA0-B863-4338-8788-08B24FA7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8382B-2B9C-4AF4-A80E-34C5E917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D9C81-6353-47D9-8102-4AAACA4D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添加企微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43BDC-0FF9-4D7A-B0A9-D2252E51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9BAF0-BA69-4F67-8CF5-C4350B0B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42754-3315-4EC0-BBFC-AEBF776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406E8-F5C9-4CFE-B9D4-9A6929BB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79D9D-9F26-4896-9A40-82C418BF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F0E66-ACF8-4F23-8E6F-CCBCAC8D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到访 / 寄样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58A02-B226-49B6-9585-B16E0585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042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58A97-37DE-400D-A257-802B027B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9525">
            <a:solidFill>
              <a:srgbClr val="234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C917E-C21D-4BA2-800C-D2E30050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 / 回款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F46DC-5D98-45D0-B322-ED40770D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客户能看到的结果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3DDCCE-3FB6-4982-995B-8FED6F9A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5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E9B914-E3FB-4669-A955-5FCCF8A1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来源客资数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C194E-D74E-47EC-BC80-83222FC4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按账号、项目和来源查看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64BE0-653B-454F-A539-7C044AB0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348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9407D-EE9E-43E0-891A-294F5DB4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承接与成交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2227D9-B57F-42D4-9A09-13F75076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看添加、沟通、到访和成交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0369A3-E038-4836-81DD-7869F09B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5C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60EFD-6D8C-4EA1-A8B4-CFC30E45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问题定位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6A6F2-6093-45F4-9C6E-41AD587E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区分流量、质量和跟进问题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928FDA-A94D-47A0-BB5B-A00467C1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投放成本和 ROI 可作为后续扩展口径，需结合客户数据条件确认。</a:t>
            </a:r>
          </a:p>
        </p:txBody>
      </p:sp>
    </p:spTree>
    <p:extLst>
      <p:ext uri="{BB962C8B-B14F-4D97-AF65-F5344CB8AC3E}">
        <p14:creationId xmlns:p14="http://schemas.microsoft.com/office/powerpoint/2010/main" val="1307936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21BDF3-8C57-423E-9C68-D0E7566D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944D6-5303-4421-8DE5-483FDA72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私域承接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8965C-1A0D-4444-A930-98118A7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下一步要解决：客户加企微后有没有真正被承接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16D24-43B2-4948-AE9F-F9A0D62A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14BE0-7276-47ED-B708-68FD036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D125F-D0E1-48DE-9217-60C42E92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34DD0-406E-4B32-B5BD-EC88B93C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项目群里发过消息，不等于客户已经进入沟通。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6E97E-8B7B-4CA3-9FA9-780E9A92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46154-5809-42D2-9116-81865A55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4B911-6292-4785-A36F-E2DDBD86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已分配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975C7-9983-43CF-83B1-BC4E25CB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F27EA-F268-4300-B793-C04D304A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350F2-0A71-4F40-A0BA-B7B89236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0A4AC-1067-4A1D-AFC6-B5F2894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已认领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537F2-7D08-46A3-B1A9-761EA2FF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1C586-0078-4192-9A0C-09DBA50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964B9-6E1E-47CF-9C51-D58E577B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6D11A-9710-4849-86DA-40FF3741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已添加企微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1AB6F-8A99-4ABE-A54A-DFDD152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EFB45-B19F-423E-A445-C19B3193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84AAD-616E-4D53-99C8-F3A93C3B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71E15-AC06-4A4C-8478-C2834B80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客户通过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F0CC5-4368-4F2A-8F1C-343157DF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E43B9-0213-4479-9D71-C7682D2E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C2114-530B-4415-87F1-9313BAFC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365D6-81A8-4C45-9DFE-B5D804A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B9F4C-FFFD-4EFC-9D5A-9B5C7E5B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66BED-7FE4-4ED5-AC4D-4A7E9C4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04CD40-79AA-46EC-91D4-C97B2834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C3B198-08B4-4248-8185-C5AAEDB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持续跟进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9FE9CA-494B-4EDC-BDC9-03957344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D11A6D-6BBA-4C3E-9CF3-43A4B3B2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可以形成的管理视图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6CD5A-0C96-4DBB-8C51-C836B37D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未添加名单   ·   超时未首次沟通   ·   响应时长   ·   项目承接对比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DCAA29-8A6B-4887-9290-16DBF9C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前提：客户确认企业微信主体、可用接口或第三方能力，以及数据授权范围。</a:t>
            </a:r>
          </a:p>
        </p:txBody>
      </p:sp>
    </p:spTree>
    <p:extLst>
      <p:ext uri="{BB962C8B-B14F-4D97-AF65-F5344CB8AC3E}">
        <p14:creationId xmlns:p14="http://schemas.microsoft.com/office/powerpoint/2010/main" val="1823319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BDD80F-C2A4-4534-BAB1-EED51F08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123DF-DA6A-4057-89E0-8661A664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客户培育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8054E-53EF-47D5-A7D5-8C9BD08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下一步要解决：未成交客户如何持续经营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82C5F-089B-4323-924D-B3849FBE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46CBC-87BC-4800-9213-FA63DCD3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BCB36-D3B0-4EFC-B79C-C29A893F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EAF8F-713E-4A6F-ADA5-C86EDD37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把客户按状态分开经营，减少漏跟，也让一次性线索有机会变成长期客户。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EDA5C-CB7A-4348-AC6C-BAA9615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分层依据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98B33-F42A-4691-B991-3C1AF0AD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solidFill>
              <a:srgbClr val="234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3E49D-6579-4EB7-841A-4A08057A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DF061-E394-439B-B737-97E8567D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593EF-D241-4C66-A879-E8FAC83E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意向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3D55D-7BD3-4206-8107-92CEDC9B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6A5CA-911B-43FC-B5AE-66FE325B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是否加企微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906B1-4F0F-4A60-B289-73A0CC7A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AE414-88C3-4F32-ACCA-AA641693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是否到访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0228C-EB76-4888-BE05-05F98DAB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B2B35-673B-470B-8B39-395A4907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最近联系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9602B-56DD-4361-B5F4-524DBE09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5F440-E638-4303-A2FF-E68B8DF2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 / 复购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7C598-9E6F-4AA7-9CCD-C37D5C97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培育场景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18DB7-E3B1-451A-80AE-AB681EA6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solidFill>
              <a:srgbClr val="234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FD7FE-7B75-4FAD-8C80-D98823E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新客欢迎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A9FF1-93F6-47D0-89E3-C2FBE7B1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4966A-CF39-4577-B0DB-38622A46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未响应补联系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56D2B-BE21-44D9-8235-863FA36D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B16E1-6D07-4007-9F15-0A7E4613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到访后回访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A324F-41B2-4C25-BA99-9866781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975237-EAF5-41D5-886F-F11A23E8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长期培育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9B088-12D7-49A8-9406-4AACBC2F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DE1476-2715-4A92-90FE-22EB1961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沉默唤醒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8CD44-D879-4DEA-AD42-78A81ED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BBF3F9-4D31-447A-B68C-A691033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29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成交后复购 / 转介绍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5E1A4-D19C-42D0-ACE1-77FAE61D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965725-32F4-48D9-A8A7-E0A96D8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任务管理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2F270B-93A6-45AC-B58E-1A5D2042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安排员工今天做什么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82F09A-5177-4F10-A17D-A327FAF5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客户培育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9405D6-48AD-4340-AF74-F79DD0DB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根据客户状态持续经营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556607-62F0-4028-9D25-88722ABC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这两项能力职责不同，可以分阶段规划。</a:t>
            </a:r>
          </a:p>
        </p:txBody>
      </p:sp>
    </p:spTree>
    <p:extLst>
      <p:ext uri="{BB962C8B-B14F-4D97-AF65-F5344CB8AC3E}">
        <p14:creationId xmlns:p14="http://schemas.microsoft.com/office/powerpoint/2010/main" val="1839908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2026-09-14T02:49:08.7880000Z</dcterms:created>
  <dcterms:modified xsi:type="dcterms:W3CDTF">2026-09-14T02:49:08.7880000Z</dcterms:modified>
</coreProperties>
</file>