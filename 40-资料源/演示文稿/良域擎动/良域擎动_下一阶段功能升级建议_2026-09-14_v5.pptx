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d8a893e0cf4367" /><Relationship Type="http://schemas.openxmlformats.org/officeDocument/2006/relationships/extended-properties" Target="/docProps/app.xml" Id="R05db9c7dc7b548fb" /><Relationship Type="http://schemas.openxmlformats.org/officeDocument/2006/relationships/officeDocument" Target="/ppt/presentation.xml" Id="R69f509c03fa34c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15e2f33c0c4e81"/>
  </p:sldMasterIdLst>
  <p:notesMasterIdLst>
    <p:notesMasterId xmlns:r="http://schemas.openxmlformats.org/officeDocument/2006/relationships" r:id="R1e949edfb0b64984"/>
  </p:notesMasterIdLst>
  <p:sldIdLst>
    <p:sldId xmlns:r="http://schemas.openxmlformats.org/officeDocument/2006/relationships" id="256" r:id="R2d39317aee304558"/>
    <p:sldId xmlns:r="http://schemas.openxmlformats.org/officeDocument/2006/relationships" id="257" r:id="R373266fa5b6649ec"/>
    <p:sldId xmlns:r="http://schemas.openxmlformats.org/officeDocument/2006/relationships" id="258" r:id="Rf50102367a594d1a"/>
    <p:sldId xmlns:r="http://schemas.openxmlformats.org/officeDocument/2006/relationships" id="259" r:id="R1c085d1fdaea4978"/>
    <p:sldId xmlns:r="http://schemas.openxmlformats.org/officeDocument/2006/relationships" id="260" r:id="Raf48d808c7fd4114"/>
    <p:sldId xmlns:r="http://schemas.openxmlformats.org/officeDocument/2006/relationships" id="261" r:id="Rf35cee9c97284e64"/>
    <p:sldId xmlns:r="http://schemas.openxmlformats.org/officeDocument/2006/relationships" id="262" r:id="Rec0d006969e642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2482810270445c" /><Relationship Type="http://schemas.openxmlformats.org/officeDocument/2006/relationships/slideMaster" Target="/ppt/slideMasters/slideMaster1.xml" Id="Rd215e2f33c0c4e81" /><Relationship Type="http://schemas.openxmlformats.org/officeDocument/2006/relationships/notesMaster" Target="/ppt/notesMasters/notesMaster1.xml" Id="R1e949edfb0b64984" /><Relationship Type="http://schemas.openxmlformats.org/officeDocument/2006/relationships/presProps" Target="/ppt/presProps.xml" Id="Re01debe190da407a" /><Relationship Type="http://schemas.openxmlformats.org/officeDocument/2006/relationships/tableStyles" Target="/ppt/tableStyles.xml" Id="R35a1c99f347d40bd" /><Relationship Type="http://schemas.openxmlformats.org/officeDocument/2006/relationships/slide" Target="/ppt/slides/slide1.xml" Id="R2d39317aee304558" /><Relationship Type="http://schemas.openxmlformats.org/officeDocument/2006/relationships/slide" Target="/ppt/slides/slide2.xml" Id="R373266fa5b6649ec" /><Relationship Type="http://schemas.openxmlformats.org/officeDocument/2006/relationships/slide" Target="/ppt/slides/slide3.xml" Id="Rf50102367a594d1a" /><Relationship Type="http://schemas.openxmlformats.org/officeDocument/2006/relationships/slide" Target="/ppt/slides/slide4.xml" Id="R1c085d1fdaea4978" /><Relationship Type="http://schemas.openxmlformats.org/officeDocument/2006/relationships/slide" Target="/ppt/slides/slide5.xml" Id="Raf48d808c7fd4114" /><Relationship Type="http://schemas.openxmlformats.org/officeDocument/2006/relationships/slide" Target="/ppt/slides/slide6.xml" Id="Rf35cee9c97284e64" /><Relationship Type="http://schemas.openxmlformats.org/officeDocument/2006/relationships/slide" Target="/ppt/slides/slide7.xml" Id="Rec0d006969e642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a1bb6920154b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7f3a803d4445a7" /><Relationship Type="http://schemas.openxmlformats.org/officeDocument/2006/relationships/notesMaster" Target="/ppt/notesMasters/notesMaster1.xml" Id="Re8e97d35c26348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c2ddcb86f440df" /><Relationship Type="http://schemas.openxmlformats.org/officeDocument/2006/relationships/notesMaster" Target="/ppt/notesMasters/notesMaster1.xml" Id="R71480ea3729e4a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ca633f03db44a1" /><Relationship Type="http://schemas.openxmlformats.org/officeDocument/2006/relationships/notesMaster" Target="/ppt/notesMasters/notesMaster1.xml" Id="Rcec9d03bbcb14f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f45303c8ca4c3a" /><Relationship Type="http://schemas.openxmlformats.org/officeDocument/2006/relationships/notesMaster" Target="/ppt/notesMasters/notesMaster1.xml" Id="R493f9bec4e6942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434b238c3c42ac" /><Relationship Type="http://schemas.openxmlformats.org/officeDocument/2006/relationships/notesMaster" Target="/ppt/notesMasters/notesMaster1.xml" Id="R4a1bc77563b546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d980a02ce640bf" /><Relationship Type="http://schemas.openxmlformats.org/officeDocument/2006/relationships/notesMaster" Target="/ppt/notesMasters/notesMaster1.xml" Id="Raacec82e050849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142e56d1054c26" /><Relationship Type="http://schemas.openxmlformats.org/officeDocument/2006/relationships/notesMaster" Target="/ppt/notesMasters/notesMaster1.xml" Id="Rfad1d971d0fa45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4a0cecb4044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fc5b85a1924933" /><Relationship Type="http://schemas.openxmlformats.org/officeDocument/2006/relationships/slideLayout" Target="/ppt/slideLayouts/slideLayout1.xml" Id="R38997bd7d2bc4d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997bd7d2bc4d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b89fec794f06" /><Relationship Type="http://schemas.openxmlformats.org/officeDocument/2006/relationships/notesSlide" Target="/ppt/notesSlides/notesSlide1.xml" Id="R92ccb15ab3274b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6b5a8e16142f6" /><Relationship Type="http://schemas.openxmlformats.org/officeDocument/2006/relationships/notesSlide" Target="/ppt/notesSlides/notesSlide2.xml" Id="R057fa45c1d5c44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83dd6cadb4bc4" /><Relationship Type="http://schemas.openxmlformats.org/officeDocument/2006/relationships/notesSlide" Target="/ppt/notesSlides/notesSlide3.xml" Id="R994f973c20984b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7c1c2a5384aae" /><Relationship Type="http://schemas.openxmlformats.org/officeDocument/2006/relationships/notesSlide" Target="/ppt/notesSlides/notesSlide4.xml" Id="Rd591b7753c5840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00af2823741de" /><Relationship Type="http://schemas.openxmlformats.org/officeDocument/2006/relationships/notesSlide" Target="/ppt/notesSlides/notesSlide5.xml" Id="Re96a2d6eb6d54b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026b84e034a16" /><Relationship Type="http://schemas.openxmlformats.org/officeDocument/2006/relationships/notesSlide" Target="/ppt/notesSlides/notesSlide6.xml" Id="Rf9d6ca42ede64a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7adb799a54a5b" /><Relationship Type="http://schemas.openxmlformats.org/officeDocument/2006/relationships/notesSlide" Target="/ppt/notesSlides/notesSlide7.xml" Id="Rb72288115f0f44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F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0B958-8F09-43CC-9011-DE3011CC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876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E1749-72C2-4E39-A443-F77A7FB1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857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B74AE-2B5B-45FF-83E7-4EC51B6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1A256-E56F-4B2E-9D4A-B8EB79FE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58C79-3E32-43BC-9150-02E67273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F2CDB-2F56-4599-9C44-755BAB30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AD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AD5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49DC1-5E1F-490A-9391-D1BCB856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下一阶段功能升级建议书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8A7D6-8419-43C6-951A-E3CE6A0D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9E2FF"/>
                </a:solidFill>
                <a:latin typeface="Helvetica Neue"/>
                <a:ea typeface="Helvetica Neue"/>
                <a:cs typeface="Helvetica Neue"/>
              </a:rPr>
              <a:t>聚焦：已交付能力 → 抖音导入 → 可开单功能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932E2-91DB-4BDB-B29F-6E8076CF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7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7C7F0"/>
                </a:solidFill>
                <a:latin typeface="Helvetica Neue"/>
                <a:ea typeface="Helvetica Neue"/>
                <a:cs typeface="Helvetica Neue"/>
              </a:rPr>
              <a:t>用于本周客户碰头会的核心展示材料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3D9EE-ED94-4A02-8BB7-C149DC55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33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1A3EA-E99D-4644-AD95-100BB9C0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1F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1F4D"/>
                </a:solidFill>
                <a:latin typeface="Helvetica Neue"/>
                <a:ea typeface="Helvetica Neue"/>
                <a:cs typeface="Helvetica Neue"/>
              </a:rPr>
              <a:t>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2BE4E-E783-46F4-A0AB-BD46C702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先确认抖音对接边界和授权清单，再定下阶段开发优先级。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1075C-8D7B-4041-9C70-883AD928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B0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AB0F5"/>
                </a:solidFill>
                <a:latin typeface="Helvetica Neue"/>
                <a:ea typeface="Helvetica Neue"/>
                <a:cs typeface="Helvetica Neue"/>
              </a:rPr>
              <a:t>2026-09-14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2D1C2-583A-42D8-8E7A-7004D0C9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43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DD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DD1FF"/>
                </a:solidFill>
                <a:latin typeface="Helvetica Neue"/>
                <a:ea typeface="Helvetica Neue"/>
                <a:cs typeface="Helvetica Neue"/>
              </a:rPr>
              <a:t>LIANG YU ENGINE  ·  CRM  ·  客户会场提案</a:t>
            </a:r>
          </a:p>
        </p:txBody>
      </p:sp>
    </p:spTree>
    <p:extLst>
      <p:ext uri="{BB962C8B-B14F-4D97-AF65-F5344CB8AC3E}">
        <p14:creationId xmlns:p14="http://schemas.microsoft.com/office/powerpoint/2010/main" val="1316482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248E3-41C9-4524-B796-D73D4699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5420D-E963-4C7F-B97E-BF6A6769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先说清：现在已经能交付什么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55C02-4566-414A-9F33-BB6EF4C8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194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25363-946F-4BE1-A1F9-E04F65DD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FA196-1B56-4412-87DF-6A07C386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60639-B50C-44FA-8D96-5AC4AE7C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2470C-A1B0-42AC-A969-99044E26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00043-9294-4759-AECE-3C445D28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一条客户线从来源到回款都可追踪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B14EA-E09A-4CAE-8FD1-30FAEDDB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先把已完成能力讲清：今天能演示、今天能验收，不是口头承诺。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84BF6-9051-4931-859C-CCBB9F02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1201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AF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B8797-AC47-427C-A507-D1E6BF42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3143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F"/>
          </a:solidFill>
          <a:ln xmlns:a="http://schemas.openxmlformats.org/drawingml/2006/main" w="9525">
            <a:solidFill>
              <a:srgbClr val="D0DA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759F6-9187-4767-A4A6-7F23F6C1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客资与项目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02D8A-A80F-4930-B6BE-B5319327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线索导入 / 项目管理 / 客户和人员权限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77238-958E-4DDC-944E-95001C91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3143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F"/>
          </a:solidFill>
          <a:ln xmlns:a="http://schemas.openxmlformats.org/drawingml/2006/main" w="9525">
            <a:solidFill>
              <a:srgbClr val="D0DA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B2AAC-AD41-4FD3-BB06-C62536F1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跟进与结果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22F8F-D8EB-49BF-B0FD-D9EF1D39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负责人认领 / 跟进记录 / 到访、报价、回款留痕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6927D-A55D-4980-AF97-7FB70AE0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143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F"/>
          </a:solidFill>
          <a:ln xmlns:a="http://schemas.openxmlformats.org/drawingml/2006/main" w="9525">
            <a:solidFill>
              <a:srgbClr val="D0DA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417FE-B65C-406E-8BDC-A4C40CF4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治理能力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5541A-1C2B-4262-9D99-3459364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转交撤回 / 审批 / 导入校验与可追溯日志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EDD9C-B406-4816-9855-358870B9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这部分就是现阶段“可交付成果”。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C4ABC8-7CDF-4CAD-9652-19ABF47D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抖音导入接入后，只要接上就进入下一阶段。</a:t>
            </a:r>
          </a:p>
        </p:txBody>
      </p:sp>
    </p:spTree>
    <p:extLst>
      <p:ext uri="{BB962C8B-B14F-4D97-AF65-F5344CB8AC3E}">
        <p14:creationId xmlns:p14="http://schemas.microsoft.com/office/powerpoint/2010/main" val="390345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52AF37-F669-4181-B262-B35F7912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B4D43-B764-4F84-B663-F2CA9B96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抖音导入：会前先把这个定死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5B95E-B62E-40DB-86E1-9BB08405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194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331DC-64E8-482A-840E-CB6F81DA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84B86-B0F9-4723-8407-196A7778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2C477-9117-4E20-ABF6-2A50819D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03925-7A7E-4202-8936-774CB28E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E10AD-93D3-4048-B780-0482D48F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1F389-4B66-485B-B8C4-FDAB8761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第一阶段只跑通：一个账号 + 一个项目 + 一批样例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34645-C6C5-4892-AE07-FEB97373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目标是建立“数据流入—映射—承接—留痕”闭环，不急于全量。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8E7FB-2D45-491D-A51E-349A45CF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4B367-5C79-43D8-9560-18FC8C46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12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1C3C5-A1BA-4169-BD11-78CCD9BF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抖音账号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2A319-DB4B-4E04-8D8B-3A60FB3F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BD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02628-58A2-4E7F-A75E-A4C4E5FB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12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7AE95-51DD-4D5B-A2B5-7CDEFB97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授权与口径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570CD-4B33-4898-A679-EAA0932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24DAF-25F3-4C8B-A654-6BBEFA44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12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7EB8D-95D0-44CD-AD39-3D10B78C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导入映射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888FD-CA47-43AE-B088-77AE37CC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536852-DB5E-4DAC-BB61-34C54C3E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12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7753B-C1EE-48F4-A3FA-5738BF2B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90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系统内承接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7F859-00F8-4A68-A020-12501774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1F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1F4D"/>
                </a:solidFill>
                <a:latin typeface="Helvetica Neue"/>
                <a:ea typeface="Helvetica Neue"/>
                <a:cs typeface="Helvetica Neue"/>
              </a:rPr>
              <a:t>客户会前确认项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8CF39E-7F49-4737-B42E-7C8E918D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F"/>
          </a:solidFill>
          <a:ln xmlns:a="http://schemas.openxmlformats.org/drawingml/2006/main" w="9525">
            <a:solidFill>
              <a:srgbClr val="B7C9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DBE55-8D7D-47B9-AFC0-CE506055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客户确认项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E3152-8AB2-449E-BF9F-2166CABD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4342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导入账号与归属：提供可授权账号、项目归属、数据范围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094AD-C669-497C-B0B0-B0A818F1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F"/>
          </a:solidFill>
          <a:ln xmlns:a="http://schemas.openxmlformats.org/drawingml/2006/main" w="9525">
            <a:solidFill>
              <a:srgbClr val="B7C9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A33854-7C17-47FE-866B-358F424A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客户确认项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099BA8-1CEB-4C25-8628-1BF68E7B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4822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字段口径：姓名、手机号、来源、时间、素材标识的映射规则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671DC6-03A1-446F-A9EA-98BE9722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F"/>
          </a:solidFill>
          <a:ln xmlns:a="http://schemas.openxmlformats.org/drawingml/2006/main" w="9525">
            <a:solidFill>
              <a:srgbClr val="B7C9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FBC071-5698-4153-A4D4-3764B656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客户确认项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B02116-44DE-4FA2-9833-30707F7D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5302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去重与失败处理：重复客资口径与重试策略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CD6AD7-28C6-4C69-B48B-0D8D2F33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F"/>
          </a:solidFill>
          <a:ln xmlns:a="http://schemas.openxmlformats.org/drawingml/2006/main" w="9525">
            <a:solidFill>
              <a:srgbClr val="B7C9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32839E-2A4D-4AE1-AB52-19E1C38D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客户确认项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B7CE37-7C97-4CA3-AB6A-1E879176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5782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验收定义：演示当天如何判断“这条线索算成功导入”</a:t>
            </a:r>
          </a:p>
        </p:txBody>
      </p:sp>
    </p:spTree>
    <p:extLst>
      <p:ext uri="{BB962C8B-B14F-4D97-AF65-F5344CB8AC3E}">
        <p14:creationId xmlns:p14="http://schemas.microsoft.com/office/powerpoint/2010/main" val="1241084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E88B2C-144C-47FE-8130-8A0B17FA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3D2DD-8B20-49B3-96DA-9DE59487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抖音导入后，立刻要做的优化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C1DDD-FA92-4CC0-91B1-E9EB721E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194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25B0B-E8F2-4E5E-AAE3-5F1E945F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150B0-0774-4992-B0AF-72A548E4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8FCF3-2FC6-4D75-BD79-053BA77F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24AAA-9D9C-4598-85C5-41FDA20E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49F09-2CC0-4361-B58A-D780CDD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先解决“看得见、能执行、能复盘”的问题。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5E2A7-379E-4E08-AEB3-60BACAA8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574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这三项在会里可以直接转成付费单。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E48BD-3870-483C-A5A5-D0399B1D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1120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B299D-77C8-471C-B9CE-EAF9644D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线索质量门禁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7B2D1-DF32-4A0A-9743-47DFE062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无效号码、重复客资、关键字段缺失提前拦截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3FF95-B4E8-4860-9E24-6DEFE6E9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提升首日可用率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6C419-6B45-4A2B-9A4F-4E0047A8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少人工清洗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0F9D7-7406-42BA-9C06-ED08887A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1120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24544-D7BC-4253-B10B-A45A3589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归因与标签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B36AE-9B5D-41BD-BC94-206B97FB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来源账号、内容 ID、投放场景与项目绑定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7AF2E-538A-4217-89F7-A0FC12C7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来源可核对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E939D-2BBF-4055-9242-2FEBFDC1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投入产出更可量化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12339-67E8-4588-A7AD-0452A28E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120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FBD22-58FA-4283-A7EA-EAEFCBFB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回流机制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F86E6-76CE-4FDD-A4A2-8ECA0DF0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失败重试、人工补登、来源对账闭环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7483C-097B-47A1-AFF5-0FBA2F18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57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同步更稳定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CA008-4F27-40DB-8EDC-7F690377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少漏记少空白</a:t>
            </a:r>
          </a:p>
        </p:txBody>
      </p:sp>
    </p:spTree>
    <p:extLst>
      <p:ext uri="{BB962C8B-B14F-4D97-AF65-F5344CB8AC3E}">
        <p14:creationId xmlns:p14="http://schemas.microsoft.com/office/powerpoint/2010/main" val="1739532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EB229-83F7-4055-A240-02A89559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1BEEA-0A2E-4FB3-A89F-C4FC468D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从渠道到成交：可量化管理入口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5E3CF-A8B8-4DB8-BFB7-2CE17616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194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871ED-F2A3-4945-8B60-D9C02CAE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4EE3C-0492-421E-8428-EF412076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157D7-217E-4F93-88AE-2D01729D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11102-62AB-401D-A8D4-7F1E0606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A8F04-1676-4BED-AABE-5DD7F33D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客户最关心：哪些来源客资更容易变成成交。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8204A-26E6-4A83-988D-3289999E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用同一口径看来源、承接、回款，避免“只看花费”失真。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7F1B5-B82A-4690-BBCA-1EBFE9A8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112014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25837-C4B2-4CE3-BCD5-7C4D9B4A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3095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42912-9DB6-4E62-A0F7-9DEE688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来源分析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D1A84-745E-4E48-B50F-06AF4678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按账号 / 视频 / 直播间看线索效率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ECB38-209D-40B6-A266-7A16B6BE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3095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9F93E-03E3-43B7-A70A-5AC4A87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承接看板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93021-C6AA-491C-BA23-5F219B84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谁在 24 小时内未加企微、谁未沟通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B9D4D-D99D-44E9-AE36-2ED6C3C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9400"/>
            <a:ext cx="3095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82431-DC83-4D55-A493-7A9C2C19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成交复盘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33A33-D67B-42C4-8609-890FA15C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按来源看转化、回款与响应时长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6AF65-FACC-4BF9-B6DE-15FFC214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升级成效：可给出“来源效率榜单”用于预算和人效调整。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D8B1C-73AD-49BE-8413-1AA8FCF7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此模块建议与抖音导入同一期验收并计费。</a:t>
            </a:r>
          </a:p>
        </p:txBody>
      </p:sp>
    </p:spTree>
    <p:extLst>
      <p:ext uri="{BB962C8B-B14F-4D97-AF65-F5344CB8AC3E}">
        <p14:creationId xmlns:p14="http://schemas.microsoft.com/office/powerpoint/2010/main" val="1593545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E8EB7C-C25E-46AF-A457-AE420E1F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6E459-7FC0-44E7-B20E-079B7B5F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私域承接：加企微之后是否真正开始沟通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A3F5A-69DB-44CF-8A19-11916CB9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194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F7E6E-61F3-4273-906D-2136377C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98C13-D7C2-4D86-BB06-4A67EF7F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7CC7A-EC46-4DA2-BF5C-D7C664DB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2844A-DD29-41F7-86A1-68D0614C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868E8-3BEF-41F8-9F1D-BED4BCE5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“已添加群”不是终点，是否被认领和首次沟通才是结果。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F5933-2C2B-4418-AA0A-E8BFD2CC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681DF-42F3-42CE-B41C-0BEB8D5F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E32EB-8DC0-4352-9B8B-243DF7CA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已分配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3DCCC-FE6E-4824-91CE-75A7D3F6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9FB5E-178D-4195-8F43-8035C7AB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289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B7F9E-B84C-4309-AB99-E7D9EBE2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28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已认领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9EF8C-D2AB-4157-95C0-0BE399E5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3FF"/>
          </a:solidFill>
          <a:ln xmlns:a="http://schemas.openxmlformats.org/drawingml/2006/main" w="9525">
            <a:solidFill>
              <a:srgbClr val="2C63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08EE3-C7D9-483C-8363-5F31C971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289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E7C25-1533-4348-A696-671CBE55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已加企微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9D18E-AFB4-4A11-BC47-151D6CA8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3FF"/>
          </a:solidFill>
          <a:ln xmlns:a="http://schemas.openxmlformats.org/drawingml/2006/main" w="9525">
            <a:solidFill>
              <a:srgbClr val="2C6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40BCA-6409-41C6-B97F-4C683808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8E463-EDB4-4A77-832D-3EC3829C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28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首次沟通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BBEE3-BEFF-43B5-8CF9-7319A029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3FF"/>
          </a:solidFill>
          <a:ln xmlns:a="http://schemas.openxmlformats.org/drawingml/2006/main" w="9525">
            <a:solidFill>
              <a:srgbClr val="2C6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72C6E-B763-4926-8115-D34009FE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28206-9391-4FB5-BABC-129CD34A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28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到访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B4EE07-E75E-4282-941A-4F37CF65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3FF"/>
          </a:solidFill>
          <a:ln xmlns:a="http://schemas.openxmlformats.org/drawingml/2006/main" w="9525">
            <a:solidFill>
              <a:srgbClr val="2C63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4706D-B20D-4116-858B-A73A71AA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08223-4C1C-45E5-AFE3-6A37A85C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持续跟进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98C57-E3CE-4E30-BCFC-05B4A89F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1201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F"/>
          </a:solidFill>
          <a:ln xmlns:a="http://schemas.openxmlformats.org/drawingml/2006/main" w="9525">
            <a:solidFill>
              <a:srgbClr val="D3DD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727D77-DF66-4651-AE0A-6C0242B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1F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1F4D"/>
                </a:solidFill>
                <a:latin typeface="Helvetica Neue"/>
                <a:ea typeface="Helvetica Neue"/>
                <a:cs typeface="Helvetica Neue"/>
              </a:rPr>
              <a:t>会后管理视图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25078-E49A-42DD-85AD-C516A865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未加企微名单 · 超时未首次沟通 · 首次回访时长 · 项目承接对比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D4E06-3E3F-462C-8CBD-461951E1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执行定义：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1) 每日未承接清单自动提醒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2) 首次沟通超时自动提醒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3) 未成交客户进入分层提醒池</a:t>
            </a:r>
          </a:p>
        </p:txBody>
      </p:sp>
    </p:spTree>
    <p:extLst>
      <p:ext uri="{BB962C8B-B14F-4D97-AF65-F5344CB8AC3E}">
        <p14:creationId xmlns:p14="http://schemas.microsoft.com/office/powerpoint/2010/main" val="1644095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F99AA7-FF7C-470C-B041-9F99D731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6810B-C05F-4325-840E-9AF1042E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本次建议：从 A 档下手，按周立单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AD29D-1FB6-42A1-ABF7-79BD306B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194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4DD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86FE4-5F70-4DED-BE2B-6C8B7892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CF8FA-B411-436C-800B-7B8CCD1A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D20D1-B230-4083-8CDD-801EA71C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8DF61-DE90-4C59-A5F1-00FD3130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D9CF5-9DC0-4034-8806-83FDAC77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不讲大而全，先把这三档按优先级放进本次决策。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BA4C0-6410-4E0B-875D-44B6EE7B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下周能开始交付的先上 A 档，效果出来再扩到下一档。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2EBB7-0509-4B11-8D80-179D68E0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11201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50439-FC12-4ED4-ADA9-CED608BC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A 档（先上）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0518A-8A04-4E70-9560-2F35DEAF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抖音导入 POC  ·  来源口径与重复去重  ·  导入成功率看板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3C6CD-CEC5-41F1-86C8-B020DA3D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周期：3周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CE129-39E3-40D2-AA93-492A98A2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抖音入口先可用，降低空跑成本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55B36-9864-4993-B549-495ED07E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11201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C6751-A61B-496D-BC56-D8746CEC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B 档（扩展）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58572-3D2A-47E5-87CC-D05808C7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归因维度与 ROI 看板  ·  企微承接 SLA 预警  ·  导入失败自修复机制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89B6D-B9A2-4535-BB69-6B330AC3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周期：4周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707CD-8E2D-4A9E-B8A7-F13DDF44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过程质量可控，提升团队执行效率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9C90D-0A95-45A8-A22F-7F223A45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1201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DA0FF-EE0C-4BB5-8A26-733CA184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C 档（进阶）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E0882-BF87-4E30-AA12-5A716D37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跨账号统一主数据  ·  预算分配建议  ·  私域承接质量评分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AFE48-2A51-475E-A349-A35D5E5A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F7788"/>
                </a:solidFill>
                <a:latin typeface="Helvetica Neue"/>
                <a:ea typeface="Helvetica Neue"/>
                <a:cs typeface="Helvetica Neue"/>
              </a:rPr>
              <a:t>周期：6周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47C69-6702-49A2-849A-E9B5062A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00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用于管理决策与后续预算会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AB3B2-2D15-4C71-AE57-45E65707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3FF"/>
                </a:solidFill>
                <a:latin typeface="Helvetica Neue"/>
                <a:ea typeface="Helvetica Neue"/>
                <a:cs typeface="Helvetica Neue"/>
              </a:rPr>
              <a:t>结论：先下 A 档，确认客户边界后进入排期。</a:t>
            </a:r>
          </a:p>
        </p:txBody>
      </p:sp>
    </p:spTree>
    <p:extLst>
      <p:ext uri="{BB962C8B-B14F-4D97-AF65-F5344CB8AC3E}">
        <p14:creationId xmlns:p14="http://schemas.microsoft.com/office/powerpoint/2010/main" val="381566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2026-09-14T08:11:16.9500000Z</dcterms:created>
  <dcterms:modified xsi:type="dcterms:W3CDTF">2026-09-14T08:11:16.9500000Z</dcterms:modified>
</coreProperties>
</file>