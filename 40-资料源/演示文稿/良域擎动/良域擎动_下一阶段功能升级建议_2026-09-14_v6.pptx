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5ef69dd05f4508" /><Relationship Type="http://schemas.openxmlformats.org/officeDocument/2006/relationships/extended-properties" Target="/docProps/app.xml" Id="R6545d205d9114caf" /><Relationship Type="http://schemas.openxmlformats.org/officeDocument/2006/relationships/officeDocument" Target="/ppt/presentation.xml" Id="R8c6486513c7247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ba8fd92f2d4ee3"/>
  </p:sldMasterIdLst>
  <p:notesMasterIdLst>
    <p:notesMasterId xmlns:r="http://schemas.openxmlformats.org/officeDocument/2006/relationships" r:id="Rc1b9c141062948c5"/>
  </p:notesMasterIdLst>
  <p:sldIdLst>
    <p:sldId xmlns:r="http://schemas.openxmlformats.org/officeDocument/2006/relationships" id="256" r:id="R10db3574a70947c1"/>
    <p:sldId xmlns:r="http://schemas.openxmlformats.org/officeDocument/2006/relationships" id="257" r:id="Rf9da8ae8cb0242a3"/>
    <p:sldId xmlns:r="http://schemas.openxmlformats.org/officeDocument/2006/relationships" id="258" r:id="R0af5c4964ba84a4f"/>
    <p:sldId xmlns:r="http://schemas.openxmlformats.org/officeDocument/2006/relationships" id="259" r:id="Radff433fbd914dc5"/>
    <p:sldId xmlns:r="http://schemas.openxmlformats.org/officeDocument/2006/relationships" id="260" r:id="R923419b03dce4880"/>
    <p:sldId xmlns:r="http://schemas.openxmlformats.org/officeDocument/2006/relationships" id="261" r:id="Rb50bcdfc6864442e"/>
    <p:sldId xmlns:r="http://schemas.openxmlformats.org/officeDocument/2006/relationships" id="262" r:id="R7cc177a86ccd48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8ddd2ae5254407" /><Relationship Type="http://schemas.openxmlformats.org/officeDocument/2006/relationships/slideMaster" Target="/ppt/slideMasters/slideMaster1.xml" Id="R1cba8fd92f2d4ee3" /><Relationship Type="http://schemas.openxmlformats.org/officeDocument/2006/relationships/notesMaster" Target="/ppt/notesMasters/notesMaster1.xml" Id="Rc1b9c141062948c5" /><Relationship Type="http://schemas.openxmlformats.org/officeDocument/2006/relationships/presProps" Target="/ppt/presProps.xml" Id="Rf641b7277ee6444d" /><Relationship Type="http://schemas.openxmlformats.org/officeDocument/2006/relationships/tableStyles" Target="/ppt/tableStyles.xml" Id="Re824c1321694480e" /><Relationship Type="http://schemas.openxmlformats.org/officeDocument/2006/relationships/slide" Target="/ppt/slides/slide1.xml" Id="R10db3574a70947c1" /><Relationship Type="http://schemas.openxmlformats.org/officeDocument/2006/relationships/slide" Target="/ppt/slides/slide2.xml" Id="Rf9da8ae8cb0242a3" /><Relationship Type="http://schemas.openxmlformats.org/officeDocument/2006/relationships/slide" Target="/ppt/slides/slide3.xml" Id="R0af5c4964ba84a4f" /><Relationship Type="http://schemas.openxmlformats.org/officeDocument/2006/relationships/slide" Target="/ppt/slides/slide4.xml" Id="Radff433fbd914dc5" /><Relationship Type="http://schemas.openxmlformats.org/officeDocument/2006/relationships/slide" Target="/ppt/slides/slide5.xml" Id="R923419b03dce4880" /><Relationship Type="http://schemas.openxmlformats.org/officeDocument/2006/relationships/slide" Target="/ppt/slides/slide6.xml" Id="Rb50bcdfc6864442e" /><Relationship Type="http://schemas.openxmlformats.org/officeDocument/2006/relationships/slide" Target="/ppt/slides/slide7.xml" Id="R7cc177a86ccd48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614aee350148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c634bf2564c7c" /><Relationship Type="http://schemas.openxmlformats.org/officeDocument/2006/relationships/notesMaster" Target="/ppt/notesMasters/notesMaster1.xml" Id="Red639ced3ed840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bee59e76964ced" /><Relationship Type="http://schemas.openxmlformats.org/officeDocument/2006/relationships/notesMaster" Target="/ppt/notesMasters/notesMaster1.xml" Id="R158c47158bc14a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c1aaaab2e4411b" /><Relationship Type="http://schemas.openxmlformats.org/officeDocument/2006/relationships/notesMaster" Target="/ppt/notesMasters/notesMaster1.xml" Id="R402fa175b4ed4c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e737ac422d43e4" /><Relationship Type="http://schemas.openxmlformats.org/officeDocument/2006/relationships/notesMaster" Target="/ppt/notesMasters/notesMaster1.xml" Id="R2b4cf69e01c74f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060e2e52eb488b" /><Relationship Type="http://schemas.openxmlformats.org/officeDocument/2006/relationships/notesMaster" Target="/ppt/notesMasters/notesMaster1.xml" Id="Rfee96a2d9d184c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f53630233d4586" /><Relationship Type="http://schemas.openxmlformats.org/officeDocument/2006/relationships/notesMaster" Target="/ppt/notesMasters/notesMaster1.xml" Id="R5a6c6601ba3c4d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5c7eaf6aec4f5c" /><Relationship Type="http://schemas.openxmlformats.org/officeDocument/2006/relationships/notesMaster" Target="/ppt/notesMasters/notesMaster1.xml" Id="R72cee45e49ef48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d67a9164045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4809b191544ad" /><Relationship Type="http://schemas.openxmlformats.org/officeDocument/2006/relationships/slideLayout" Target="/ppt/slideLayouts/slideLayout1.xml" Id="R34c4c0750c984e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c4c0750c98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5a1acd4ab4bbc" /><Relationship Type="http://schemas.openxmlformats.org/officeDocument/2006/relationships/notesSlide" Target="/ppt/notesSlides/notesSlide1.xml" Id="Redd9fe7c026749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9f3b4e26a4aad" /><Relationship Type="http://schemas.openxmlformats.org/officeDocument/2006/relationships/notesSlide" Target="/ppt/notesSlides/notesSlide2.xml" Id="Rf6fc85e498c543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185dc6c8c4453" /><Relationship Type="http://schemas.openxmlformats.org/officeDocument/2006/relationships/notesSlide" Target="/ppt/notesSlides/notesSlide3.xml" Id="R960c9d2d899b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f1b6875074ac3" /><Relationship Type="http://schemas.openxmlformats.org/officeDocument/2006/relationships/notesSlide" Target="/ppt/notesSlides/notesSlide4.xml" Id="Rc64734c9f92840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96ad7d1e5445d" /><Relationship Type="http://schemas.openxmlformats.org/officeDocument/2006/relationships/notesSlide" Target="/ppt/notesSlides/notesSlide5.xml" Id="R120e84203cf34a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3e30bebc442cf" /><Relationship Type="http://schemas.openxmlformats.org/officeDocument/2006/relationships/notesSlide" Target="/ppt/notesSlides/notesSlide6.xml" Id="R2a8c16b2145143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feeb121fc40fa" /><Relationship Type="http://schemas.openxmlformats.org/officeDocument/2006/relationships/notesSlide" Target="/ppt/notesSlides/notesSlide7.xml" Id="Ref8dc06fd48e44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273782-BA4F-4E44-8B02-229510A6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32E8B-81A4-4586-95E7-92E7126A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60B28-751C-40C7-B6C6-F687ABFF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22860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A7826-DD92-44B7-ADA1-E373B42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81050"/>
            <a:ext cx="22860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22F58-2BE3-43CD-885B-5B278081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81050"/>
            <a:ext cx="22860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368BB-FC74-49A4-A5ED-D19A952E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81050"/>
            <a:ext cx="22860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143C7-2946-4735-8449-FBA50CD7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81050"/>
            <a:ext cx="22860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E835C-94C4-4217-8898-D3F6FF3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81050"/>
            <a:ext cx="22860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1B1B1-E409-425D-B9DD-CAE08A2B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81050"/>
            <a:ext cx="22860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69C36-5109-4042-852D-C6BC4CB4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81050"/>
            <a:ext cx="22860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0EB4A-7E77-4637-99AC-8E4FF9AD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22860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11FCF-C47A-4660-AB0D-8FC99E2F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3452D-6692-4088-8805-1BF2E5B0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CAD7F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D5E02-141C-4D14-B61E-1F13608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D3D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675A6-5B08-41F6-97A6-05EB0AA9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CAD7F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BC77C-0903-4083-B6A4-E41827A1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D3D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7AF25-0DA1-4AB2-89B6-AD7444F0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CAD7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0BEE4-7F71-4980-8374-2CB945C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D3D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8EDE7-DDD3-4DC8-A5ED-B93F61D9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CAD7F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FF197-3B7C-4201-8D72-C1FBA3A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D3D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530FC-299B-4CD4-9CA0-BC2110B3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CAD7F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409D9-213F-4030-A377-A0809912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D3D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FD1BC-1EC3-419D-8199-77F45EE3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CAD7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A9912-DD53-463C-9CA7-7CFBEA2D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D3D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A62776-305E-4537-886A-0E60191B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295900" cy="0"/>
          </a:xfrm>
          <a:prstGeom xmlns:a="http://schemas.openxmlformats.org/drawingml/2006/main" prst="line">
            <a:avLst/>
          </a:prstGeom>
          <a:ln xmlns:a="http://schemas.openxmlformats.org/drawingml/2006/main" w="4763">
            <a:solidFill>
              <a:srgbClr val="CAD7F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F8D8B-0406-40BC-B43B-D419A3D9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9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D9DFF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AEE288-BBFA-4608-801B-56C0B818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BE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4FF"/>
                </a:solidFill>
                <a:latin typeface="Helvetica Neue"/>
                <a:ea typeface="Helvetica Neue"/>
                <a:cs typeface="Helvetica Neue"/>
              </a:rPr>
              <a:t>私域项目运营中台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FE743-9A1D-42B3-986A-9C26FB33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54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下一阶段功能升级建议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286B2-D52E-4A34-89D5-95E002F4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5DFFF"/>
                </a:solidFill>
                <a:latin typeface="Helvetica Neue"/>
                <a:ea typeface="Helvetica Neue"/>
                <a:cs typeface="Helvetica Neue"/>
              </a:rPr>
              <a:t>From stable operation to commercial-grade growth cycle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5F24D2-B7C0-4191-B44E-8D688B74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9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EE4F95-FAA3-4B41-A1CE-25317A41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D2FF"/>
                </a:solidFill>
                <a:latin typeface="Helvetica Neue"/>
                <a:ea typeface="Helvetica Neue"/>
                <a:cs typeface="Helvetica Neue"/>
              </a:rPr>
              <a:t>今天讲 3 件事：现有能力、抖音导入边界、可签单升级路径。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C5DE99-75F0-4E81-9934-A65E2934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834C31-8996-49C5-8611-D67627BD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交付节奏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3F1D45-0EB6-42E7-8EE4-79F97839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项目已具备稳定的客户链路与管理闭环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4C0E4B-C24A-47EE-B82D-041AA9D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D7D1D1-6BE6-4FBF-AF92-0AAF6C63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下一阶段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49DA6D-E9B9-47E0-97DE-64D19C28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抖音导入作为新入口，先建链路后扩规模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38DF94-5F07-4D21-B1DC-EF1ECA75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22BCEC-27CE-4776-A1D1-096C4379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商机目标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0E611A-B82A-4050-88FE-BA73C622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0075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会后明确 A 档，形成可落地签约清单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978C5F-8BD0-4F7C-9429-469A48DD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B361EA-D99A-4B3D-BBE5-179929CA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81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会议场景：客户碰头会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15BA41-24F7-46A7-A13E-3B808400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23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Date：2026-09-14</a:t>
            </a:r>
          </a:p>
        </p:txBody>
      </p:sp>
    </p:spTree>
    <p:extLst>
      <p:ext uri="{BB962C8B-B14F-4D97-AF65-F5344CB8AC3E}">
        <p14:creationId xmlns:p14="http://schemas.microsoft.com/office/powerpoint/2010/main" val="71987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F9DE8-4515-41C9-8130-85280545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5A440-5C60-4885-9192-8ED94B4B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E87AF-D085-42EA-BDF2-86D3BDD0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382D2-E4C4-4E26-BB64-A6334D0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DAY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64933-B1F1-4BD6-AB3D-3203956A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rPr>
              <a:t>1) 现在交付什么，不是概念，是现用功能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99A2-317C-4BFD-B883-ACC276C1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Foundation first: what is already operating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4E335-9CB2-4826-8133-AC713EDE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6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9C7AC-E8C9-4D47-B79D-25C8EF22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00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45592-F087-473C-A290-E83F3158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客户可确认的交付范围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4192E-98CB-4A0B-B86B-3981C655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把“已经上线+可演示+可追溯”按三层整理，避免会场讨论跑偏。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4A05B-F2B5-4040-A1D1-AC13B5E3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6EDCB-53F0-4DD5-833D-B2016E92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客资与项目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48225-BB22-4D17-8DE5-B2DB752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导入、客户资料、项目结构、成员与权限管理。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CA76C-318A-4DA2-9CCC-55483A67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客户管理和项目执行现在都在同一入口、同一口径下可核对。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2818E-4F1B-43B5-A08B-A19B2B3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40C0F-13BE-419A-BE0A-187EEF82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跟进与结果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1C360-93B4-4604-AF49-876B8226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负责人认领、转交、沟通记录、报价、到访、回款全过程留痕。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DB492-8EC9-471B-BCCD-60AF4948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客户管理和项目执行现在都在同一入口、同一口径下可核对。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A7769-9575-4819-A74B-CF7901BD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8D2C2-91AD-4F2D-93EC-77D83C53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治理与运营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DBFDF-9FE9-4CB0-B2DF-24A0B949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审批链、关键日志、导入核验与可回放操作痕迹。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FDEAA-1D92-4E73-90C8-0F2843A8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客户管理和项目执行现在都在同一入口、同一口径下可核对。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BB635-4A42-4E41-B189-C3E81679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3530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00A03-603E-475D-AEA7-A5E2CB5E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Execution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2B44C-4FEE-4CA6-8262-3BD8D7C8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可向客户复盘的事实点：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2B0621-FE9F-4668-89EB-8F4F1EE7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C00B88-0251-4744-9892-199B8A5B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384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项目级权限可控：避免越权混用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1B03CC-5DBE-4D23-98FE-815BF63A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872CAE-67E6-4013-8C60-C25AE85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57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关键节点全部可追溯：出现问题可回溯到人和时间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3E4CF-A27C-4D9B-B882-E62A0CFA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5EE445-B810-4BBF-A37C-EE3DB44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导入异常、任务状态与审批都具备可验路径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F14CB-450B-413B-8F9D-EC51EDB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4629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先验收基础链路，再谈增量，不用把已稳定能力当成待确认项。</a:t>
            </a:r>
          </a:p>
        </p:txBody>
      </p:sp>
    </p:spTree>
    <p:extLst>
      <p:ext uri="{BB962C8B-B14F-4D97-AF65-F5344CB8AC3E}">
        <p14:creationId xmlns:p14="http://schemas.microsoft.com/office/powerpoint/2010/main" val="1059714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4C659B-089B-49A0-9669-5D9D89F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A95AC-1AE3-409F-B772-07F3294B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E4DF8-F48B-4AE4-A03B-F06313F9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172A9-0706-4400-8B72-61CA1C6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DAY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C4D2B-1E65-4CF6-B02A-538D2BC8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rPr>
              <a:t>2) 抖音导入：先把入口跑通，先让业务可用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4F961-D4F2-4EE7-AB1D-E7DB05FB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Douyin onboarding as the first commercial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AD0C2-8E8D-42C4-BF74-FC1F7766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6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8F0B2-6D5C-4278-8952-79F47337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00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A5142-4BA5-4B96-AA3D-8E7D0AD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会议需要先落的不是技术细节，而是能否连起来。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7065C-3B66-4D82-896B-2CDF6761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先做 1 账号 + 1 项目 + 1 批样例，形成“可重复执行模板”。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10D6D-C38E-4E10-83DF-E089424E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F0CB1-C043-497E-B1AA-B222D563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抖音端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E4D77-4063-4BD7-B06B-AFB47A54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直播/表单/投放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F86F3-9D98-49F2-BD45-0F81A278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00400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6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1EA28-EEED-4929-8006-CF2B3B25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4FF"/>
          </a:solidFill>
          <a:ln xmlns:a="http://schemas.openxmlformats.org/drawingml/2006/main" w="0">
            <a:solidFill>
              <a:srgbClr val="2C6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12B1F-129A-4965-B5E8-12EC5378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1EA1E-84AF-463C-88FE-7AF24FCC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导入层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AE5C6-0D2D-4339-B812-E088FF2F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授权与字段映射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DEE26-A813-4BA4-912F-7CC196C2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0400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64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1F1FD-3FF8-473B-8AE0-23E03E75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4FF"/>
          </a:solidFill>
          <a:ln xmlns:a="http://schemas.openxmlformats.org/drawingml/2006/main" w="0">
            <a:solidFill>
              <a:srgbClr val="2C6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22E44-6327-4AAE-8EF9-3B5D0A09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4795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68B45-E687-4163-A219-4640D4E6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44470-29A9-4DED-B8F6-A47A3D6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项目认领与承接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5AFF8-1CD6-4DA1-B31E-F990EA08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0400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6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02652-89A9-471E-99A1-75B56B6A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4FF"/>
          </a:solidFill>
          <a:ln xmlns:a="http://schemas.openxmlformats.org/drawingml/2006/main" w="0">
            <a:solidFill>
              <a:srgbClr val="2C64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CB503-B62F-4E10-8D2B-5F46276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16F15-BB90-421C-B40A-B79949E4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执行与回传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BDFED-CAA3-452F-AF8A-CB6A7B55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状态同步与结果归档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DC5D5-ED5C-4239-AD59-E30BA3F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11239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87864-7220-4900-BA30-B1D1FDFE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客户会前确认项（仅列 4 个）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78D0AF-7E8D-49CB-BD14-E469D4D2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8C4B8E-FC30-4B54-A9F7-FF239B6C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指定账号 + 明确项目归属（避免重复账号争议）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213F45-2137-4A89-A33A-585DF76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FF3E81-B663-46E5-ABD3-38DBC456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14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字段口径（姓名、手机号、来源、时间、素材标识）一致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72529-3051-4C5D-85B1-39037E3B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ED0F1E-D3E8-4C7F-89F9-870AEBDE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重复客资去重和失败重试边界提前约定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917938-632D-49AA-AD8D-97477993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505052-C6BB-421A-AC53-59132C02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验收成功标准：按样例定义“算入有效”</a:t>
            </a:r>
          </a:p>
        </p:txBody>
      </p:sp>
    </p:spTree>
    <p:extLst>
      <p:ext uri="{BB962C8B-B14F-4D97-AF65-F5344CB8AC3E}">
        <p14:creationId xmlns:p14="http://schemas.microsoft.com/office/powerpoint/2010/main" val="283593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BBCAD-8DD4-4995-BFAD-A8859513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5EFDF-86A0-4623-B2E2-2C5D0FD4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3CB50-0D87-4C73-8DEF-28B881D9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AC861-E826-46A7-95E2-FAA0C67D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DAY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03E55-6A7F-40B3-87D7-14A80B9C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rPr>
              <a:t>3) 先拆边界：明确可控与不可控，减少后续扯皮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57326-2A77-478F-B6F3-1F6F7A7D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Scope controls reduce rework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C9E5D-7A36-43CF-ACE1-93FDA83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6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62369-C472-4A0B-9F97-16C21F62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00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5FA82-F9BB-4E16-8FAB-30CD2E2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客户更在意清晰的执行边界。先把“能做/暂不做”写进本次会后清单。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0A622-B5CD-4D2A-AC5D-A11B7136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A5780-0DE3-4117-ACDB-F9534070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可控项（第一批），我们负责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67554-DFA0-42CC-B80B-86ADEAAE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数据链路配置、导入映射、重复客资处理、承接状态流转、同步与失败补齐机制。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17F56-6810-49F6-AD0C-27D9C2B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客户只要配合权限与字段定义即可推进。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D71EB-6F37-4F0F-AA66-3FD5075E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999EB-0796-44FA-97A5-E462B09C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客户确认项（必须先给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D9A4B-3681-42BB-9771-5A007720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账号授权、项目和人员归属、字段约定、验收口径。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7822C-4241-4737-8E89-63E419A0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边界不清会直接导致首批未验收。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48D71-7771-4EDB-B66E-433F97E3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41070-3BBB-40E5-8CF7-E5B29FE1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非本次范围，后置处理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1C51B-116E-4A14-B90E-4A83098D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企微营销素材归因、预算自动分配模型、跨账号跨项目统一主数据治理。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26BC7-84A0-4195-82CE-B3F0E658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这些可放到 B/C 档，避免本次开口太大。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0F76BB-7E07-4B63-8A67-06C7E2C0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C6114-A708-4475-B5D6-531EB12A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3865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成功标准（会后复核）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00DE07-2D62-4D49-98FA-7690579F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244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能看到：1）抖音客资进到项目；2）状态留痕；3）来源可追溯；4）可重跑。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A4BEC-B62F-4203-BA5D-4909D855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244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这 4 点满足，就能进入第二迭代。</a:t>
            </a:r>
          </a:p>
        </p:txBody>
      </p:sp>
    </p:spTree>
    <p:extLst>
      <p:ext uri="{BB962C8B-B14F-4D97-AF65-F5344CB8AC3E}">
        <p14:creationId xmlns:p14="http://schemas.microsoft.com/office/powerpoint/2010/main" val="17997682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16C793-24F0-4114-8C3B-841B035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FEA54-13F0-4AC3-918E-4E795FEE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BF1AF-F9A3-4448-A8C7-8FF4AC3D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E22C1-8800-44BD-9087-9D322C1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DAY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9096B-BE7D-42CC-A4BC-B1007688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rPr>
              <a:t>4) 抖音导入后可立刻优化的 3 件关键工作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39910-31FA-4F66-9BE3-F87BC01D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Immediate value upgrades for monetization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2E24E-8DEA-4D40-A02F-A8243BB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6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96D52-363E-4126-A444-A41580CB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00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DC8C8-869C-4CFC-A393-6D225501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这些是“能看见收益”的优化项，不是炫技功能。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AB12E-07E7-4F11-9FA4-FB51458C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1201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33B33-C7A5-42CD-915B-532E5B5A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4FF"/>
          </a:solidFill>
          <a:ln xmlns:a="http://schemas.openxmlformats.org/drawingml/2006/main" w="0">
            <a:solidFill>
              <a:srgbClr val="2C6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99E06-5B8D-4EE6-9904-57238FF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线索质量门禁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B94FB-4541-40AF-B5AB-E6697880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先去噪再送达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08E10-D7B2-4D99-B6BE-A70E02A6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36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空号、重复、关键字段缺失自动过滤，第一天就降低人工清洗成本。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102AB-FF12-4191-9D47-DE8A9C14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0D9B9-682E-480E-BBC6-B2385C7E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可独立验收、独立计费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6360E-E217-4D71-89F8-185B20B9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11201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A7BF8-518B-42AB-A333-BC8649F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4FF"/>
          </a:solidFill>
          <a:ln xmlns:a="http://schemas.openxmlformats.org/drawingml/2006/main" w="0">
            <a:solidFill>
              <a:srgbClr val="2C6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5C09D-9F65-4C2B-9807-97FF20A7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来源归因与标签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725DB-E953-4913-9281-BC57DACC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每条线索知道来自什么来源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EF55B-4B57-4BCF-B498-56DDD339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账号、视频、时间窗、投放素材可复用为报表与复盘的统一口径。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BFB16-F0C6-4CD4-AF65-5521395A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37F22-71D2-491F-8F98-DDF911DA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可独立验收、独立计费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1A70D-5B8D-44CD-AE5F-7AA06472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11201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03DB5-368B-43A4-80EB-1496BA07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4FF"/>
          </a:solidFill>
          <a:ln xmlns:a="http://schemas.openxmlformats.org/drawingml/2006/main" w="0">
            <a:solidFill>
              <a:srgbClr val="2C64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BFD94-0050-4F8B-A414-8FC43B6F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承接 SLA 视图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BD1F5-E666-4CEB-A655-B9714EE8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从“加了微信”到“真的沟通”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B6641-8E0C-4715-A87D-ECC22321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超时未首次沟通自动预警，防止漏跟。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7D4614-D6A2-4740-82E6-8753DE4C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4021F8-155E-4F1D-9D34-87D1B307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可独立验收、独立计费</a:t>
            </a:r>
          </a:p>
        </p:txBody>
      </p:sp>
    </p:spTree>
    <p:extLst>
      <p:ext uri="{BB962C8B-B14F-4D97-AF65-F5344CB8AC3E}">
        <p14:creationId xmlns:p14="http://schemas.microsoft.com/office/powerpoint/2010/main" val="6962300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8B615-7D88-48EB-8B45-11992744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E55E1-2956-47CF-AF2C-2B4A0DB1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281ED-8D2D-4EAB-841C-6D1975DF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F0A3B-4E8E-46E2-8B2F-7E11F3BF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DAY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D9484-B945-4131-B363-ACE5FE1A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rPr>
              <a:t>5) 本次建议：按增量签单推进，控制交付成本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B8DF6-029F-4F90-BF47-E6E0B53B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Commercial path: A/B/C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9E9EB-7B12-4CB0-BB13-A616251F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6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E212E-BE7B-4C23-ADCD-5E9C7B6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00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63E4F-0321-452B-AD78-4C4FEC6D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给客户一个“能听懂的商业路线”：先上 A 档，验收后再决策 B/C 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0266C-8233-407B-B46A-F74497BA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1201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2AAE2-A4DB-41B7-AE3B-28C73D5A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A 档（先上）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9ECD3-392F-46AC-8872-320BCC53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目标：先有可演示成果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83244-553C-41A4-A6E2-F1015690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抖音导入 POC   ·   字段映射与去重逻辑   ·   首轮承接与回传闭环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CBB08-042B-4ABD-BC6F-33A51D65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384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交付目标：周期 2-3 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64396-B252-4D62-8E88-36EA5FF9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28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会后签字推进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CF346-F989-4F82-B0E4-753F2620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11201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0F04A-D257-45B5-826D-54819472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B 档（扩展）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21113-E8A6-4310-9D46-22173CEA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目标：减少漏跟与返工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9F3A5-9B82-473E-AE5F-39D35F9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2427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来源归因看板   ·   承接状态 SLA   ·   失败重试与手工补登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86B6D-2A94-45B5-A8DC-3F45E280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交付目标：周期 3-4 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F8008-ABFE-484C-AF26-41C1814E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19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会后签字推进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B408B-0EDF-4F73-A5BE-92969D8F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11201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B7594-709A-4B69-A750-85862EF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C 档（进阶）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55482-E09A-4DEC-9409-F37A866B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目标：支撑管理决策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A1952-3292-4050-B3E0-3D0E6A06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149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跨账号数据统一   ·   预算分配参考模型   ·   质量评分与复盘模板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A09652-2B75-4E1B-8C1B-D1FF8A65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19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交付目标：周期 6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B24AD-D613-455E-B69C-96DC864C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10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C64FF"/>
                </a:solidFill>
                <a:latin typeface="Helvetica Neue"/>
                <a:ea typeface="Helvetica Neue"/>
                <a:cs typeface="Helvetica Neue"/>
              </a:rPr>
              <a:t>会后签字推进</a:t>
            </a:r>
          </a:p>
        </p:txBody>
      </p:sp>
    </p:spTree>
    <p:extLst>
      <p:ext uri="{BB962C8B-B14F-4D97-AF65-F5344CB8AC3E}">
        <p14:creationId xmlns:p14="http://schemas.microsoft.com/office/powerpoint/2010/main" val="1020914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1AAB6A-44D6-4D91-82B6-D680FCFB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77773-3698-4BEA-B1FB-C5C12F3A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22B38-B768-49E9-8ABD-CC3E5383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ACB04-31C5-41EF-8A03-2ECDAFB7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DAY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757A3-B93F-43B7-8708-4F5F4806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1D2E"/>
                </a:solidFill>
                <a:latin typeface="Helvetica Neue"/>
                <a:ea typeface="Helvetica Neue"/>
                <a:cs typeface="Helvetica Neue"/>
              </a:rPr>
              <a:t>6) 这次会后，我们要的不是答疑，是决策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EF49B-157B-47FC-9D9E-19ABE4B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Decision-focused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265A1-1FF9-411E-8651-ECE84DB6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6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F7199-00FF-45D9-BA42-33EFCD8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00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99"/>
                </a:solidFill>
                <a:latin typeface="Helvetica Neue"/>
                <a:ea typeface="Helvetica Neue"/>
                <a:cs typeface="Helvetica Neue"/>
              </a:rPr>
              <a:t>LIANG YU ENGINE  ·  CRM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4C078-73B6-4693-9A37-F64EBB66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11201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DE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3DDC5-0C6D-47F0-A2F5-B9AB551E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B3A"/>
                </a:solidFill>
                <a:latin typeface="Helvetica Neue"/>
                <a:ea typeface="Helvetica Neue"/>
                <a:cs typeface="Helvetica Neue"/>
              </a:rPr>
              <a:t>会后确认清单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8A36B-F77E-44A3-808F-8EBD83A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85054-4668-435C-B4BE-0B80A9E1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确认抖音导入 A 档范围与账号归属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BB795-3BB3-4BD0-B77D-DB08673C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536F0-7F6B-4133-8909-0DF2851E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确认客户提供授权与字段口径清单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C12D3-C4C3-4960-8364-F3E9759F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B07FD-753F-4811-91CB-F2418F07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194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确认验收时间点与首批规模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54158-2235-4E5E-9827-3012F4AF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0"/>
          </a:solidFill>
          <a:ln xmlns:a="http://schemas.openxmlformats.org/drawingml/2006/main" w="0">
            <a:solidFill>
              <a:srgbClr val="2230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B67BB-C209-4389-9282-D4955BCD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71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23040"/>
                </a:solidFill>
                <a:latin typeface="Helvetica Neue"/>
                <a:ea typeface="Helvetica Neue"/>
                <a:cs typeface="Helvetica Neue"/>
              </a:rPr>
              <a:t>确认下阶段是否在本次提案中签约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80584-7830-4E6B-97E1-C848C3BA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5410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34"/>
          </a:solidFill>
          <a:ln xmlns:a="http://schemas.openxmlformats.org/drawingml/2006/main" w="0">
            <a:solidFill>
              <a:srgbClr val="091A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D389F-0EBE-4565-93C2-4DFBCAA3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我们承诺的结果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BA5B9-DBB7-493D-A10B-B11A9C5B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37E22-4C0D-4DB0-A708-FEFCE95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导入样例一周内可演示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4A48D-649A-4759-9412-AE52204E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528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AEE23-8B39-47AE-8088-2E021087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可追踪的承接与转化链路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0BBCC-1B0B-476C-AD65-EA15C43A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95FD0-47C8-43C1-8D30-60255F7E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下一次会议直接进入 B 档或 C 档立项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8C5CA-8F64-41CF-97C3-70622EF5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5410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7D9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EC917-C17A-47A5-B25B-AB105DA5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7F9FD"/>
                </a:solidFill>
                <a:latin typeface="Helvetica Neue"/>
                <a:ea typeface="Helvetica Neue"/>
                <a:cs typeface="Helvetica Neue"/>
              </a:rPr>
              <a:t>要把“先到场、再付款”变成“先对齐、再交付”。</a:t>
            </a:r>
          </a:p>
        </p:txBody>
      </p:sp>
    </p:spTree>
    <p:extLst>
      <p:ext uri="{BB962C8B-B14F-4D97-AF65-F5344CB8AC3E}">
        <p14:creationId xmlns:p14="http://schemas.microsoft.com/office/powerpoint/2010/main" val="1312400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2026-09-14T08:34:16.6880000Z</dcterms:created>
  <dcterms:modified xsi:type="dcterms:W3CDTF">2026-09-14T08:34:16.6880000Z</dcterms:modified>
</coreProperties>
</file>