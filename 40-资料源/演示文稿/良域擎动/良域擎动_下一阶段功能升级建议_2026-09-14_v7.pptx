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3164e51e04cfa" /><Relationship Type="http://schemas.openxmlformats.org/officeDocument/2006/relationships/extended-properties" Target="/docProps/app.xml" Id="Rf02e9a67ab0f482d" /><Relationship Type="http://schemas.openxmlformats.org/officeDocument/2006/relationships/officeDocument" Target="/ppt/presentation.xml" Id="R87a4c75608ab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6d685f5354288"/>
  </p:sldMasterIdLst>
  <p:notesMasterIdLst>
    <p:notesMasterId xmlns:r="http://schemas.openxmlformats.org/officeDocument/2006/relationships" r:id="R4d3873c40f274651"/>
  </p:notesMasterIdLst>
  <p:sldIdLst>
    <p:sldId xmlns:r="http://schemas.openxmlformats.org/officeDocument/2006/relationships" id="256" r:id="R160203865ce14f65"/>
    <p:sldId xmlns:r="http://schemas.openxmlformats.org/officeDocument/2006/relationships" id="257" r:id="R6266a96f7b554753"/>
    <p:sldId xmlns:r="http://schemas.openxmlformats.org/officeDocument/2006/relationships" id="258" r:id="R8491fa37f277477d"/>
    <p:sldId xmlns:r="http://schemas.openxmlformats.org/officeDocument/2006/relationships" id="259" r:id="Rf6901399d49044c8"/>
    <p:sldId xmlns:r="http://schemas.openxmlformats.org/officeDocument/2006/relationships" id="260" r:id="R739264b1f71a4fa7"/>
    <p:sldId xmlns:r="http://schemas.openxmlformats.org/officeDocument/2006/relationships" id="261" r:id="Rc42647d1bf5148ed"/>
    <p:sldId xmlns:r="http://schemas.openxmlformats.org/officeDocument/2006/relationships" id="262" r:id="Rc20b1d82faac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712ed69cab457f" /><Relationship Type="http://schemas.openxmlformats.org/officeDocument/2006/relationships/slideMaster" Target="/ppt/slideMasters/slideMaster1.xml" Id="R1646d685f5354288" /><Relationship Type="http://schemas.openxmlformats.org/officeDocument/2006/relationships/notesMaster" Target="/ppt/notesMasters/notesMaster1.xml" Id="R4d3873c40f274651" /><Relationship Type="http://schemas.openxmlformats.org/officeDocument/2006/relationships/presProps" Target="/ppt/presProps.xml" Id="R03adc6601b864057" /><Relationship Type="http://schemas.openxmlformats.org/officeDocument/2006/relationships/tableStyles" Target="/ppt/tableStyles.xml" Id="Re8528ff92f454bc7" /><Relationship Type="http://schemas.openxmlformats.org/officeDocument/2006/relationships/slide" Target="/ppt/slides/slide1.xml" Id="R160203865ce14f65" /><Relationship Type="http://schemas.openxmlformats.org/officeDocument/2006/relationships/slide" Target="/ppt/slides/slide2.xml" Id="R6266a96f7b554753" /><Relationship Type="http://schemas.openxmlformats.org/officeDocument/2006/relationships/slide" Target="/ppt/slides/slide3.xml" Id="R8491fa37f277477d" /><Relationship Type="http://schemas.openxmlformats.org/officeDocument/2006/relationships/slide" Target="/ppt/slides/slide4.xml" Id="Rf6901399d49044c8" /><Relationship Type="http://schemas.openxmlformats.org/officeDocument/2006/relationships/slide" Target="/ppt/slides/slide5.xml" Id="R739264b1f71a4fa7" /><Relationship Type="http://schemas.openxmlformats.org/officeDocument/2006/relationships/slide" Target="/ppt/slides/slide6.xml" Id="Rc42647d1bf5148ed" /><Relationship Type="http://schemas.openxmlformats.org/officeDocument/2006/relationships/slide" Target="/ppt/slides/slide7.xml" Id="Rc20b1d82faac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97c86577347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5daea948545b5" /><Relationship Type="http://schemas.openxmlformats.org/officeDocument/2006/relationships/notesMaster" Target="/ppt/notesMasters/notesMaster1.xml" Id="Ref003db0b493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5469812544508" /><Relationship Type="http://schemas.openxmlformats.org/officeDocument/2006/relationships/notesMaster" Target="/ppt/notesMasters/notesMaster1.xml" Id="R479c7543a08044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8ad99c6b34cb3" /><Relationship Type="http://schemas.openxmlformats.org/officeDocument/2006/relationships/notesMaster" Target="/ppt/notesMasters/notesMaster1.xml" Id="Rd4022f88ceef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3436a164594687" /><Relationship Type="http://schemas.openxmlformats.org/officeDocument/2006/relationships/notesMaster" Target="/ppt/notesMasters/notesMaster1.xml" Id="Rfbac6456a67a4f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ff3f7935a04893" /><Relationship Type="http://schemas.openxmlformats.org/officeDocument/2006/relationships/notesMaster" Target="/ppt/notesMasters/notesMaster1.xml" Id="R4176a5ce66484e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ad477d19cd4d54" /><Relationship Type="http://schemas.openxmlformats.org/officeDocument/2006/relationships/notesMaster" Target="/ppt/notesMasters/notesMaster1.xml" Id="Rb6c388ac3b7046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c1120ac57d495e" /><Relationship Type="http://schemas.openxmlformats.org/officeDocument/2006/relationships/notesMaster" Target="/ppt/notesMasters/notesMaster1.xml" Id="Rc23ed90f9231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c5375e225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0a8d22b2b460a" /><Relationship Type="http://schemas.openxmlformats.org/officeDocument/2006/relationships/slideLayout" Target="/ppt/slideLayouts/slideLayout1.xml" Id="R8e81d7cf0c3544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1d7cf0c3544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f6e73c5924c27" /><Relationship Type="http://schemas.openxmlformats.org/officeDocument/2006/relationships/notesSlide" Target="/ppt/notesSlides/notesSlide1.xml" Id="Rf2c0d16f350a47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180d3b58c4af8" /><Relationship Type="http://schemas.openxmlformats.org/officeDocument/2006/relationships/notesSlide" Target="/ppt/notesSlides/notesSlide2.xml" Id="R43b1f146ae31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ca8b9161f4965" /><Relationship Type="http://schemas.openxmlformats.org/officeDocument/2006/relationships/notesSlide" Target="/ppt/notesSlides/notesSlide3.xml" Id="R0a750bf4ab24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aea0de3cf40b8" /><Relationship Type="http://schemas.openxmlformats.org/officeDocument/2006/relationships/notesSlide" Target="/ppt/notesSlides/notesSlide4.xml" Id="R9e8fefa8480444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4469bbf3476d" /><Relationship Type="http://schemas.openxmlformats.org/officeDocument/2006/relationships/notesSlide" Target="/ppt/notesSlides/notesSlide5.xml" Id="R7bd4fa208dec42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275fdeb8a43e1" /><Relationship Type="http://schemas.openxmlformats.org/officeDocument/2006/relationships/notesSlide" Target="/ppt/notesSlides/notesSlide6.xml" Id="R0dd89bf305f5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b39ebcdd34fce" /><Relationship Type="http://schemas.openxmlformats.org/officeDocument/2006/relationships/notesSlide" Target="/ppt/notesSlides/notesSlide7.xml" Id="R6dc6611e40d946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F48D1C-DF1A-44FA-BF8D-860CB373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B4AAD-1C0C-4384-990F-5442690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C1ACB-B903-48B9-A128-B771531A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01165-FE0B-4A58-8299-B1A9912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26CE2-3A93-49CD-B0DD-1BF61A4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2377-A1AE-4DD7-B112-B57300C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7EC83-3691-4EF6-A71F-3D57EEFD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FF581-6899-4593-8403-04CC89BD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4E444-D5C9-44E7-B39B-CA973ECA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4D222-65F2-484A-AB3B-B750141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8319C-92F6-423F-AEE1-2FB3543A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5F81E-0B1C-49E7-910F-264AD812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62000"/>
            <a:ext cx="285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B885C-D2FC-4147-B7EE-04DDD16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A2866-70E1-4CE1-9303-A45D3F9D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81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BA245-A558-4EB7-A52C-8D7F06B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738D2-2AA3-4912-80BB-EBF0C9F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28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D24B3-6D8C-4324-A825-F39F5A4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52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D61A2-54EA-4B9D-B4D8-89AE05C5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8BD0D-06BB-43AA-AC63-59AD780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00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0E669-ED69-4805-8737-89BCA1E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8A"/>
          </a:solidFill>
          <a:ln xmlns:a="http://schemas.openxmlformats.org/drawingml/2006/main" w="0">
            <a:solidFill>
              <a:srgbClr val="1A3C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A9E5F-3916-4D0F-AAB3-FD8F43CD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40748-A8C2-40B2-92F0-DCF7EEF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E8C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54EE8-83D8-4FBA-A5E6-8911DE71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E8CFF"/>
                </a:solidFill>
                <a:latin typeface="Helvetica Neue"/>
                <a:ea typeface="Helvetica Neue"/>
                <a:cs typeface="Helvetica Neue"/>
              </a:rPr>
              <a:t>L I A N G Y 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F3A19-D1FA-46A9-B94F-C8670B6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7C6E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251E1-DAC2-4489-8E5B-5BE7CBF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41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Phase Growth Upgrade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06323-F11E-4F03-90EA-48C4280D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下一阶段功能升级提案（会议版）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92D7E-B112-48FB-B1A9-2806E8D0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D2FF"/>
                </a:solidFill>
                <a:latin typeface="Helvetica Neue"/>
                <a:ea typeface="Helvetica Neue"/>
                <a:cs typeface="Helvetica Neue"/>
              </a:rPr>
              <a:t>三张纸说完：现在能交付什么、抖音导入边界、可立单方向。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A8B9D-882F-4C6A-9EA8-BD960AD8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F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BAFE0"/>
                </a:solidFill>
                <a:latin typeface="Helvetica Neue"/>
                <a:ea typeface="Helvetica Neue"/>
                <a:cs typeface="Helvetica Neue"/>
              </a:rPr>
              <a:t>2026-09-14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4D0AF-B79A-49E5-A88B-4EBD9FB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0">
            <a:solidFill>
              <a:srgbClr val="6E8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9036D-AA3A-4152-A5AB-8F1544E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E8CFF"/>
                </a:solidFill>
                <a:latin typeface="Helvetica Neue"/>
                <a:ea typeface="Helvetica Neue"/>
                <a:cs typeface="Helvetica Neue"/>
              </a:rPr>
              <a:t>Prepared for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F9E13-E1C3-4F41-BD30-F9DCFAF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FE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FE7FF"/>
                </a:solidFill>
                <a:latin typeface="Helvetica Neue"/>
                <a:ea typeface="Helvetica Neue"/>
                <a:cs typeface="Helvetica Neue"/>
              </a:rPr>
              <a:t>Client alignment session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100AE-5261-4BF4-8449-D07931B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EB47B-01D2-4DD8-8E4D-D0773F2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会前共识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6AA42-7E9C-4F0E-90D7-DA82987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先用抖音导入打通新入口</a:t>
            </a:r>
          </a:p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再用承接质量做下一轮收费</a:t>
            </a:r>
          </a:p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把风险、边界和进度一次对齐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DABA8-51FC-4E56-93A3-90AB1D7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Decision 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ADCC23-DA6C-4B58-90AF-D2FEF04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确认 A 档范围并给出签单决策</a:t>
            </a:r>
          </a:p>
        </p:txBody>
      </p:sp>
    </p:spTree>
    <p:extLst>
      <p:ext uri="{BB962C8B-B14F-4D97-AF65-F5344CB8AC3E}">
        <p14:creationId xmlns:p14="http://schemas.microsoft.com/office/powerpoint/2010/main" val="14178011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2DE5F-8640-44E4-8622-19799DD4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D36B1-CC9A-452B-A08E-A184186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4172F-3492-429D-90C8-B3D1FAAD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72143-12A9-45C0-B8C6-873EBE1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FAA02-A44B-4631-8410-8AF779C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EE75A-2824-4469-8355-D541F8E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WHAT IS ALREADY DELIVERABLE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DC5FB-5454-4051-B74C-546B306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先说清已经可交付的能力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BB6C4-BF5B-40EB-95F0-97220199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38B75-B945-4F95-BDE3-FC51CAC8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今天给客户看的是现网可演示、可验收内容，不是设想。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345ED-B031-459E-9246-1220F92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如果不能今晚确认，就会被当成“还在开发中”。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31409-5966-4434-9735-D5D1942C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BA880-EFC7-4FF6-9C21-0DE2033D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6205C-60F1-4ADE-B55B-3869F40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Client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19BF-07C1-40D4-8993-F16F172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客资接入后，形成项目级处理流程：分配、认领、跟进、到访、成交、回款。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5884E-0DCE-4B10-9817-822D7C0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E3088-B3DD-40D8-9104-E70844E6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B6EE0-5EAA-47DC-9159-F1EB0DAB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E6BA1-DC6E-468B-9F9C-28D8CB5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每一步都有记录与归档，管理端可追责，可复盘。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1C3D8-CB35-4571-A00D-CB35FD8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11201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B24BB-FD7A-4CC1-99EB-719E67F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B127D-3EB1-4F8B-A86C-A017364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Operational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A3B73-7114-4CCF-B066-DD0B402C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转交、审批、撤回、容量与权限规则都在统一入口执行。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278B6-730B-4AF4-A48C-AB1C50B6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对客户的价值：能马上做对照，能马上排错，能马上开工。</a:t>
            </a:r>
          </a:p>
        </p:txBody>
      </p:sp>
    </p:spTree>
    <p:extLst>
      <p:ext uri="{BB962C8B-B14F-4D97-AF65-F5344CB8AC3E}">
        <p14:creationId xmlns:p14="http://schemas.microsoft.com/office/powerpoint/2010/main" val="15684878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FD44B-394D-4D9D-8066-DFB0155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6BEA7-C6A8-4B0A-AD57-7AD83AB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2D965-5C71-4F56-8571-0FF31E33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7D38D-4D35-4A86-9901-61A66B3E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9138E-8820-4A33-AB78-9120B164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B3279-92CB-4A11-81B7-09D3451C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DOUYIN ONBOARDING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411B3-57C7-4E4D-BEF8-80B5D0B3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抖音导入先接通最小闭环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779B9-8EF9-4642-84A3-C36A64EB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4B293-0390-496D-AD4C-5C83912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先验的不是“接口有无”，而是“能否稳定转入项目执行”。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1F624-EAEA-45E5-B0CC-AD35D1C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AA2B5-23D0-4501-9DD8-715EF9B8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0A7E4-4F90-4C74-9B03-E48C8B14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6C3BA-4128-45DA-BC91-360ACA0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0">
            <a:solidFill>
              <a:srgbClr val="6E8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25A80-2058-4FC3-A71C-D26B073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955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6E8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4ED52-DA0F-4181-A94F-F98E3007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9FD0-BE18-457B-B38F-A789C506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字段映射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7849F-55D6-42FE-9F1C-B20BC73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0">
            <a:solidFill>
              <a:srgbClr val="6E8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DA3BF-5CEA-4CBD-A8C2-A976EB7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5420B-E8F8-43FE-ABF1-6441F473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6B0E-A8B2-4173-9B1B-DEB41C7D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导入规则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F0F5B-13C1-464E-B84F-58EA949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0">
            <a:solidFill>
              <a:srgbClr val="6E8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4266E-6D66-4296-BB4B-CE968037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D8157-FE0F-43E5-A03B-D6EB18D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D5D76-021D-4124-B605-6AB9A0F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项目承接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FE311-6ACA-4902-90F8-5F3AD2A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0">
            <a:solidFill>
              <a:srgbClr val="6E8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07C36-2F04-4668-8187-50FCF85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96F319-53B8-4ABE-BF88-71C3E647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DD631-AC12-4372-AB6D-75BB561B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回传结果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10CB6-EF0A-4F0E-929F-35E90044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12014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5345F7-F327-4B97-85BE-5A09255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会前必须确认（1 个账号 / 1 个项目 / 1 份样例）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6B156-F87E-4B67-B5B9-9DD0DD1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客户确认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AE7D04-1873-41F1-A810-1C41AD6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6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1) 账号授权与归属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2) 字段口径与重名合并规则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3) 同步周期与失败重试机制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4) 成功样例定义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C93BC-5CBE-439D-A630-E2D2222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我方先做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0FF8A9-C50E-4A49-9456-015411EE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1) 一周内打通 PoC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2) 形成可追溯导入记录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3) 形成可交付验收清单</a:t>
            </a:r>
          </a:p>
        </p:txBody>
      </p:sp>
    </p:spTree>
    <p:extLst>
      <p:ext uri="{BB962C8B-B14F-4D97-AF65-F5344CB8AC3E}">
        <p14:creationId xmlns:p14="http://schemas.microsoft.com/office/powerpoint/2010/main" val="492306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EF147-4082-44BD-9C5D-ED54C47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5B4A4-2D08-446C-9C99-BC3E71C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C6068-0432-4B1B-BB9D-66AAD5A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26E3A-9E1E-483B-B818-259A526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4A513-39CD-4077-9E51-ABBF4EF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AE0C9-2871-4D85-87CE-9FA8B60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SCOPE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7571E-9B99-4728-8666-EF93D80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先定边界，后谈周期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FEE63-1870-49D4-9D86-FCBC0BC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41171-7E37-4A1F-BAC2-73887832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BF8A-B43B-4C87-8AD0-DADE02C1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客户先确认（我们的依赖项）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1F0BD-C2A7-449B-96D8-B93B297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22149-7EBF-4E0B-8E7F-E6C3952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账号与项目归属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F024-2B74-4B35-A391-F8BA80CA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抖音导入账号清单、项目映射关系、可接入时间窗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BB100-B18D-4ACA-B3EA-04BD716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3A462-C891-44FF-B435-A638212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字段口径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8C3A2-F78E-49D8-A560-72269E7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姓名、手机号、来源、时间、素材维度、去重键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34A39-BF0E-44C3-B053-8ACF3B1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A3095-D75A-46FB-ACB6-704A142B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合规与授权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BD5D2-C16F-4436-B64E-BDA6A355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导入授权范围、隐私与留存边界、异常数据处理策略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B6F33-76F3-4E98-9743-5312311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65153-82AF-430F-8EF8-85D1D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验收口径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A9C5A-427C-46B7-BFFA-031B625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样例清单、成功率阈值、可追溯截图和日志要求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DEAB1-96EB-43E6-B366-B6C85E1F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334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543A8-A0A7-450D-8D5C-A2DC944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62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不在本次范围（避免误会）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074DD-DBE5-4D21-A1B6-2362C4A3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跨账号统一主数据</a:t>
            </a:r>
          </a:p>
          <a:p xmlns:a="http://schemas.openxmlformats.org/drawingml/2006/main">
            <a:pPr algn="l">
              <a:def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多渠道统一归因引擎</a:t>
            </a:r>
          </a:p>
          <a:p xmlns:a="http://schemas.openxmlformats.org/drawingml/2006/main">
            <a:pPr algn="l">
              <a:def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预算分配自动优化模型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E2DAE-F218-43C6-B679-8619F05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19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风险提醒：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F55BB-F252-496F-A72B-32BC0C8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没有这些输入，第一轮验收会延后；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一旦延后，计费节点也不能提前确认。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ACB492-C1EE-4818-BD3C-0D161828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这页会后一定要签：清单确认 + 回传责任人 + 验收时间。</a:t>
            </a:r>
          </a:p>
        </p:txBody>
      </p:sp>
    </p:spTree>
    <p:extLst>
      <p:ext uri="{BB962C8B-B14F-4D97-AF65-F5344CB8AC3E}">
        <p14:creationId xmlns:p14="http://schemas.microsoft.com/office/powerpoint/2010/main" val="15772963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400A9-EB6C-4B99-9ACB-85D6AE7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10FF1-AB71-41BF-BC11-084831D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5946B-5C8B-4C38-A5A7-F0B0552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B6EC-3265-49F1-BF4C-C96DA701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A8960-A739-4D16-A000-9BB77AA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72541-0510-4210-8D34-CF56197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IMMEDIATE VALUE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6AE9-29B1-4FF2-A4F6-5B2B9A8F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抖音接入后的先行优化清单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E4C0-FD22-459A-8FF1-5E6C8F1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BB958-986D-4F5B-B987-63CC14B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C653E-0568-4C25-8DE3-7859065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C4565-0C7D-4CC2-BB3E-1C5CB9B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Quality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97CA5-82E5-4BEA-9321-C0361262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先过滤无效线索，减少 25-40% 垃圾工单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281FB-E11D-4E5A-AF39-5F7F43C4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Measure: 每周报表可衡量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A1F39-54F6-4A25-A542-DEA329C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可独立验收，可独立排期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B97E5-4A12-4995-8FA6-1F737BC0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19475"/>
            <a:ext cx="11201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65DB1-AF46-4ABB-9EA5-EDCD45A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19475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F2C79-0EE7-4DE3-A352-7D646C2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Attribution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78FD6-5518-48BB-B99B-7D265E08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来源/账号/素材可归因，可比较不同入口质量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4689E-2672-45D6-BE17-E4E7AB9E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338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Measure: 用于预算重分配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81662-C54C-415A-8B34-7D6AB84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可独立验收，可独立排期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4E562-E865-43F2-88D0-F6E1B724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1201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06B0F-2ACC-477A-8ED2-C390A2A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14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56993-573B-401D-ABDF-1E020A1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SLA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44CAD-8F6E-4483-8DAA-75EB257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未加企微、未首次沟通自动预警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4C8F8-B483-416A-8EAB-06E0394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10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Measure: 直接降低漏跟率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407AA-E5E6-4BBE-BAD0-73920457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可独立验收，可独立排期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C7DB0-3F6B-4432-9355-3A1210C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这三项不是“锦上添花”，是第一轮必须把“可见结果”做出来。</a:t>
            </a:r>
          </a:p>
        </p:txBody>
      </p:sp>
    </p:spTree>
    <p:extLst>
      <p:ext uri="{BB962C8B-B14F-4D97-AF65-F5344CB8AC3E}">
        <p14:creationId xmlns:p14="http://schemas.microsoft.com/office/powerpoint/2010/main" val="4798593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6FC92-1009-4202-9CD2-E042113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34388-A4FF-4362-9C94-48FDA382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72E14-D710-4F85-892D-651BD31D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B9A5D-7C6F-48D8-9C72-D8A05BB5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6D98A-9465-4FBF-B2FF-F810850C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89946-5195-4CFF-B0DB-68953A2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IMPLEMENTATION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3890B-4CD7-4641-9395-9825741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按 A/B/C 分档推进，节奏可控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BD1E-87B3-4B77-8837-909ECC8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755B1-D2EB-4176-86D2-CB934B73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1201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EED74-7F14-4906-9078-7CAD4855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0CB21-2C45-4548-8373-30FAD467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A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74A5-DDD7-41D5-898B-C5807C7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预估周期：2-3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57E93-C904-4961-B4BB-FC315DE0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145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抖音导入 PoC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字段映射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重复去重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验收样例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9A04E-7142-4E7B-A602-A643A34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目标：有成果可演示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269FD-A7C5-47B7-83E8-369E6EE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956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可单独签署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1DFEA-26D5-4775-8B74-DA63056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11201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C58CE-E1B7-4EC9-B252-E166618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F89F7-B4D2-47FF-AAFF-93090C8A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B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5C42C-B13A-481A-9063-AC75C12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预估周期：3-4 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F035F-A3F5-436D-8B1C-DF50CF67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承接 SLA 看板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失败回退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来源归因维度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7F478-022D-4992-BF9F-513F17E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目标：减少漏跟与返工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B428C-AB3F-49D7-8B25-91FD1FC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可单独签署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128B-3567-4018-A936-8A8ABE3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11201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E2956-9501-496F-8C53-5029E02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C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4A015-CAF5-4B96-B310-FC72664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C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50BBD-56FD-4B03-AC0B-51E551C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预估周期：6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DEAF9-53D7-4D4B-81D4-1AC36DF3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86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跨账号统一主数据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渠道 ROI 分析</a:t>
            </a:r>
          </a:p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执行策略建议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CFD57-7C5E-485C-9C83-1FEE3AB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目标：形成决策依据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C6902-BEFA-4FC8-AD6B-769D7CAE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67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可单独签署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725755-5E1D-44BD-B6D4-72BCB98F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建议：会后先签 A Plan，B/C 继续按结果复盘追加。</a:t>
            </a:r>
          </a:p>
        </p:txBody>
      </p:sp>
    </p:spTree>
    <p:extLst>
      <p:ext uri="{BB962C8B-B14F-4D97-AF65-F5344CB8AC3E}">
        <p14:creationId xmlns:p14="http://schemas.microsoft.com/office/powerpoint/2010/main" val="19994325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AF86B-EB75-40D4-9697-3DB8995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EA3AB-FEBE-4D8C-A10B-49EEBCE7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1207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11FD4-FD68-4F0A-9A79-F9FA04C6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4D"/>
          </a:solidFill>
          <a:ln xmlns:a="http://schemas.openxmlformats.org/drawingml/2006/main" w="0">
            <a:solidFill>
              <a:srgbClr val="0D22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82BA8-BBB0-47C3-A73F-DCBE00B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57C63-6F0B-4C88-952E-74C2097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DAY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9B747-CA05-4D7B-A7B4-785DB584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DECISION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EC60D-72F2-4CB4-9387-B4B287B3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会议目标：把共识变成签约动作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E25FB-7616-4C01-9268-D13BFE4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2D6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313F9-1516-48C9-8AA3-664C6DE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12014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  <a:ln xmlns:a="http://schemas.openxmlformats.org/drawingml/2006/main" w="9525">
            <a:solidFill>
              <a:srgbClr val="D8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FBA97-9FA0-40BD-9D96-9C5FCC60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三项会议共识（缺一不可）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DBF6-396C-458C-9898-2A0F6F57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016AB-3FF7-4850-974C-425EB46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确认 A Plan 范围（账号、字段、样例）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F364B-B77D-4867-ACAA-FE60FA36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确认 A Plan 范围（账号、字段、样例）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233BE-8686-4C20-8875-3B4EF0FF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E7F7F-9461-423F-9CA6-0AD7DA27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确认验收口径与验收窗口（含负责人）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2F452-0CD8-4DDE-8BEA-C04045E3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确认验收口径与验收窗口（含负责人）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C72AA-D084-4132-8BF8-720BA3C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FF"/>
          </a:solidFill>
          <a:ln xmlns:a="http://schemas.openxmlformats.org/drawingml/2006/main" w="0">
            <a:solidFill>
              <a:srgbClr val="2D6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382F7-E599-443E-8FE9-FC8F887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8839A"/>
                </a:solidFill>
                <a:latin typeface="Helvetica Neue"/>
                <a:ea typeface="Helvetica Neue"/>
                <a:cs typeface="Helvetica Neue"/>
              </a:rPr>
              <a:t>确认本次提案推进的预算和签署节奏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643A6-D302-4BD6-BA21-2C1BCC0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确认本次提案推进的预算和签署节奏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432B3-6574-4471-B858-9D78461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D65FF"/>
                </a:solidFill>
                <a:latin typeface="Helvetica Neue"/>
                <a:ea typeface="Helvetica Neue"/>
                <a:cs typeface="Helvetica Neue"/>
              </a:rPr>
              <a:t>我方承诺：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93AC6-4DAA-42B3-8CC3-3C0F488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B1B32"/>
                </a:solidFill>
                <a:latin typeface="Helvetica Neue"/>
                <a:ea typeface="Helvetica Neue"/>
                <a:cs typeface="Helvetica Neue"/>
              </a:rPr>
              <a:t>1 周内回看一次上线计划；2 周内交付验收样例；3 周内进入 B/C 决策。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772F4-3F96-41E0-BDC7-6930EB69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A2C4A"/>
                </a:solidFill>
                <a:latin typeface="Helvetica Neue"/>
                <a:ea typeface="Helvetica Neue"/>
                <a:cs typeface="Helvetica Neue"/>
              </a:rPr>
              <a:t>这页先拍板，不要拍后再补。</a:t>
            </a:r>
          </a:p>
        </p:txBody>
      </p:sp>
    </p:spTree>
    <p:extLst>
      <p:ext uri="{BB962C8B-B14F-4D97-AF65-F5344CB8AC3E}">
        <p14:creationId xmlns:p14="http://schemas.microsoft.com/office/powerpoint/2010/main" val="1165716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2026-09-14T08:36:24.2020000Z</dcterms:created>
  <dcterms:modified xsi:type="dcterms:W3CDTF">2026-09-14T08:36:24.2020000Z</dcterms:modified>
</coreProperties>
</file>