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af39989de84fe2" /><Relationship Type="http://schemas.openxmlformats.org/officeDocument/2006/relationships/extended-properties" Target="/docProps/app.xml" Id="R99768985881241b0" /><Relationship Type="http://schemas.openxmlformats.org/officeDocument/2006/relationships/officeDocument" Target="/ppt/presentation.xml" Id="Rcec1d8d411ab4a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215416363b47c1"/>
  </p:sldMasterIdLst>
  <p:notesMasterIdLst>
    <p:notesMasterId xmlns:r="http://schemas.openxmlformats.org/officeDocument/2006/relationships" r:id="Rd6feabaff10b48db"/>
  </p:notesMasterIdLst>
  <p:sldIdLst>
    <p:sldId xmlns:r="http://schemas.openxmlformats.org/officeDocument/2006/relationships" id="256" r:id="R1cea789d643b4aa6"/>
    <p:sldId xmlns:r="http://schemas.openxmlformats.org/officeDocument/2006/relationships" id="257" r:id="Rfc0eb9c014f44f4b"/>
    <p:sldId xmlns:r="http://schemas.openxmlformats.org/officeDocument/2006/relationships" id="258" r:id="R095655b2b6674078"/>
    <p:sldId xmlns:r="http://schemas.openxmlformats.org/officeDocument/2006/relationships" id="259" r:id="Re618bf11022d4dd6"/>
    <p:sldId xmlns:r="http://schemas.openxmlformats.org/officeDocument/2006/relationships" id="260" r:id="Rb607bcc94e4040ca"/>
    <p:sldId xmlns:r="http://schemas.openxmlformats.org/officeDocument/2006/relationships" id="261" r:id="R4ac29fb101e344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d6b40307c34574" /><Relationship Type="http://schemas.openxmlformats.org/officeDocument/2006/relationships/slideMaster" Target="/ppt/slideMasters/slideMaster1.xml" Id="Rb3215416363b47c1" /><Relationship Type="http://schemas.openxmlformats.org/officeDocument/2006/relationships/notesMaster" Target="/ppt/notesMasters/notesMaster1.xml" Id="Rd6feabaff10b48db" /><Relationship Type="http://schemas.openxmlformats.org/officeDocument/2006/relationships/presProps" Target="/ppt/presProps.xml" Id="Rdfb43ed7faa24a15" /><Relationship Type="http://schemas.openxmlformats.org/officeDocument/2006/relationships/tableStyles" Target="/ppt/tableStyles.xml" Id="R711da238f0a24345" /><Relationship Type="http://schemas.openxmlformats.org/officeDocument/2006/relationships/slide" Target="/ppt/slides/slide1.xml" Id="R1cea789d643b4aa6" /><Relationship Type="http://schemas.openxmlformats.org/officeDocument/2006/relationships/slide" Target="/ppt/slides/slide2.xml" Id="Rfc0eb9c014f44f4b" /><Relationship Type="http://schemas.openxmlformats.org/officeDocument/2006/relationships/slide" Target="/ppt/slides/slide3.xml" Id="R095655b2b6674078" /><Relationship Type="http://schemas.openxmlformats.org/officeDocument/2006/relationships/slide" Target="/ppt/slides/slide4.xml" Id="Re618bf11022d4dd6" /><Relationship Type="http://schemas.openxmlformats.org/officeDocument/2006/relationships/slide" Target="/ppt/slides/slide5.xml" Id="Rb607bcc94e4040ca" /><Relationship Type="http://schemas.openxmlformats.org/officeDocument/2006/relationships/slide" Target="/ppt/slides/slide6.xml" Id="R4ac29fb101e344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5836dce33e47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1892daa618446e" /><Relationship Type="http://schemas.openxmlformats.org/officeDocument/2006/relationships/notesMaster" Target="/ppt/notesMasters/notesMaster1.xml" Id="R6f39f485a08644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a6f5f4235e4176" /><Relationship Type="http://schemas.openxmlformats.org/officeDocument/2006/relationships/notesMaster" Target="/ppt/notesMasters/notesMaster1.xml" Id="Rc5213209c91045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e88686d6134532" /><Relationship Type="http://schemas.openxmlformats.org/officeDocument/2006/relationships/notesMaster" Target="/ppt/notesMasters/notesMaster1.xml" Id="R97e227fe75c149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af987a135f4ccb" /><Relationship Type="http://schemas.openxmlformats.org/officeDocument/2006/relationships/notesMaster" Target="/ppt/notesMasters/notesMaster1.xml" Id="Rcde620af632a42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6b43f51ddc40b0" /><Relationship Type="http://schemas.openxmlformats.org/officeDocument/2006/relationships/notesMaster" Target="/ppt/notesMasters/notesMaster1.xml" Id="R59547a06654a4a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b7b75f1ac941f9" /><Relationship Type="http://schemas.openxmlformats.org/officeDocument/2006/relationships/notesMaster" Target="/ppt/notesMasters/notesMaster1.xml" Id="Rcfa40cdecac343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b9f21144a94f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5a8ede93b5485f" /><Relationship Type="http://schemas.openxmlformats.org/officeDocument/2006/relationships/slideLayout" Target="/ppt/slideLayouts/slideLayout1.xml" Id="Rafdaadffbda348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daadffbda348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a8b341a6e4151" /><Relationship Type="http://schemas.openxmlformats.org/officeDocument/2006/relationships/notesSlide" Target="/ppt/notesSlides/notesSlide1.xml" Id="R97edb7701e074c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77cf7b7874bb0" /><Relationship Type="http://schemas.openxmlformats.org/officeDocument/2006/relationships/notesSlide" Target="/ppt/notesSlides/notesSlide2.xml" Id="R68a631e0fba147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b793465e645db" /><Relationship Type="http://schemas.openxmlformats.org/officeDocument/2006/relationships/notesSlide" Target="/ppt/notesSlides/notesSlide3.xml" Id="R51289e7f210f4d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f70c5f7274d01" /><Relationship Type="http://schemas.openxmlformats.org/officeDocument/2006/relationships/notesSlide" Target="/ppt/notesSlides/notesSlide4.xml" Id="R972bfa307b9e46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0f9d8087f4433" /><Relationship Type="http://schemas.openxmlformats.org/officeDocument/2006/relationships/notesSlide" Target="/ppt/notesSlides/notesSlide5.xml" Id="Rdf6cbaaff81f4e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82723da1d4462" /><Relationship Type="http://schemas.openxmlformats.org/officeDocument/2006/relationships/notesSlide" Target="/ppt/notesSlides/notesSlide6.xml" Id="R7ed7e164eb9244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E46E47-4D61-40F7-B2C9-5A90A600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DE0B55-FF47-4D07-A535-0B140DBC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112DE-F4B4-40DD-A14F-3EAE50FB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4966AB-E728-4071-90EB-7F85E678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80357-A899-4DFE-BEC8-DE32AC4A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9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6DF20-D320-4934-A733-12DA25CF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C4AF7-589F-4D9A-89B4-AE7887F6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23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CD096-4DE4-4B11-97C5-B136F078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9158DB-38F0-4531-848E-790E28D8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2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EECCD6-4432-4C0C-AB28-9A96B03F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Liang Yu Engine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157BF-DDF8-405F-AEF2-187C8325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009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良域擎动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D0AC0D-A26A-44E1-A54C-61348DC4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D2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9D2FF"/>
                </a:solidFill>
                <a:latin typeface="Helvetica Neue"/>
                <a:ea typeface="Helvetica Neue"/>
                <a:cs typeface="Helvetica Neue"/>
              </a:rPr>
              <a:t>私域项目运营中台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8FBA35-C1A0-4150-978E-784AA7C2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下一阶段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功能升级建议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DC2B0C-F60F-4C8A-B2DC-4E2D066C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953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3A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E42C00-2E3C-44D7-B344-4345D053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从客资管理，继续走向获客、承接、培育和成交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87B8D1-1083-4615-9B0C-0EB1FFCA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良域擎动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D8BEDB-EFD1-4561-ACEF-ADBFB376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192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良域擎动 · 私域项目运营中台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30749F-F29A-4AB3-B07F-7FCD93E1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383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客户功能升级提案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38C3E3-D624-4D6E-9E8A-11713FB4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24150"/>
            <a:ext cx="342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53B848-18B4-47EA-8D82-FCB26559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48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从客资进入，到成交结果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7E3729-6220-45D9-A06B-C6D78C42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290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下一阶段功能方向与立项建议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7C4E57-0BD2-4DCE-83C2-F5B894BE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28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LIANG YU ENGINE  /  CRM 2026</a:t>
            </a:r>
          </a:p>
        </p:txBody>
      </p:sp>
    </p:spTree>
    <p:extLst>
      <p:ext uri="{BB962C8B-B14F-4D97-AF65-F5344CB8AC3E}">
        <p14:creationId xmlns:p14="http://schemas.microsoft.com/office/powerpoint/2010/main" val="8754802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DECF71-E982-4D9E-9AE1-5D8816BB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392C4-8886-400D-A9C5-AEEB23D0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当前基础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479DF-68EA-4097-A7A8-C6DA2CAC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现有系统已经能承接一条完整客户链路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34055C-4C2D-4A84-B9C7-6200AB97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3E3EC-00D2-4658-A24F-877CA7BA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77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LIANG YU ENGINE  /  CRM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7245C9-491F-4A4D-952C-5A459C3B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1F62F9-D30A-49C2-95FD-900554C8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系统已经具备项目试用和日常管理条件。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762BD2-D0FC-488C-9E0D-E0D847E6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客资进入以后，有记录、有人负责、过程可追踪，项目负责人能看进度，管理者能看结果。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1ECF0-AF1C-42DA-BC2F-0906A670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D57C91-F0AE-4513-BE40-CEBABC26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2A3D4-77AF-4C3D-AA68-00D4BD55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576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客资进入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0CFDD8-7418-4454-8395-1D0FF4C6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48075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9F751A-B4EB-4155-8D26-C989C335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29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4CF0F3-30E0-4D92-BC0D-B508A2F1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433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2C0A09-D0E0-4A5A-8438-C84B2286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576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分配负责人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56485E-EDC4-4411-A79F-07F3403D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48075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A58AB2-77F7-46B7-969B-A538604B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29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85EAEB-9D14-4F82-9695-850F450C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433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16E4C0-9811-4B34-9F92-513197AC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0576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跟进记录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C366C9-023B-4779-9DF1-9EDE1B07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48075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F353D3-A312-43FE-B6B0-FFCB477B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29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05972A-2D88-4F88-A28E-D04D1C24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433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5FB736-1C2A-4B9E-B1FE-13159260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576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到访 / 报价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FE6C29-8736-416E-8134-9B3C138A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48075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106589-1B50-4FED-9C9E-EA4734EA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29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C2F9FD-0BD1-45BB-80FD-D5A8E08F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433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2A0614-AC46-4440-9519-F996A31B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576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成交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F55AE0-201B-4951-9404-C7E5F0BC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48075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1901A3-0C45-426C-BF57-A96482D6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29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90402D-63FB-4AEF-86E3-542E3FCD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023C99-2A10-4698-8714-1065FCF8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576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回款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6B9A38-2108-4E91-9EC4-917F4FDA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A7D529-1AB0-4CDB-868D-EA3C46AA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客户与项目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D2BFF4-7232-4D3F-9038-79C23346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客户资料、项目、人员和权限统一管理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5B70D9-82BD-47C8-B63D-DD9636DA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334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跟进与结果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51292F-F015-4F87-803A-487479A0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6197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分配、转交、跟进、成交和回款均可留痕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D9EC7C-9CEB-493F-96EF-8AB76FD6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334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管理与追溯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52103F-4CF0-4FE5-8705-53CF5203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6197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审批、凭证、导入确认和关键操作可追溯</a:t>
            </a:r>
          </a:p>
        </p:txBody>
      </p:sp>
    </p:spTree>
    <p:extLst>
      <p:ext uri="{BB962C8B-B14F-4D97-AF65-F5344CB8AC3E}">
        <p14:creationId xmlns:p14="http://schemas.microsoft.com/office/powerpoint/2010/main" val="11075532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A142C7-7581-4C6A-8FD3-0A6B8AB6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3F3A1-017A-41CA-ADB2-6478F269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新增入口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0291F9-85B5-4134-BBFA-AD51544B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抖音接入后，前端客资进入统一管理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56EB69-612C-4F39-A493-A9474AFA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F8959-6ED4-49F5-8A23-77979244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77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LIANG YU ENGINE  /  CRM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76BD34-1771-4C35-8708-5A94C58F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F79BF-25F1-440F-A174-F515B2B0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第一步先跑通一个账号、一个项目和一批样例。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35A75B-A15F-4C0F-884F-2E78D6AB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会上确认范围，细节由双方技术人员会后对接。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8C2D6-4CF5-499D-B25E-7047C57F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61AF53-E0F2-4E31-878C-069B7902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抖音账号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C6E67A-9796-4C69-8163-9E98ECD5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052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直播 / 表单 / 投放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864406-CA67-4EAB-9499-6BD1B7F8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76650"/>
            <a:ext cx="1143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8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D2B1F5-8602-49E3-AD38-69B69107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432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9525">
            <a:solidFill>
              <a:srgbClr val="071B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557C76-C0A6-4D80-84CA-FA37F8FC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52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良域擎动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EB54ED-EB0B-4775-BAAE-559C3E6E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052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9D2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C9D2FF"/>
                </a:solidFill>
                <a:latin typeface="Helvetica Neue"/>
                <a:ea typeface="Helvetica Neue"/>
                <a:cs typeface="Helvetica Neue"/>
              </a:rPr>
              <a:t>接收、映射、留痕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674F2D-E191-44B9-860F-70FF3BBA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76650"/>
            <a:ext cx="1143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8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849CD6-F3F1-4A75-91DF-D2FB7731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432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86D22F-CC15-46C9-BB62-3F2A9567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52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项目负责人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809363-928E-4662-9737-85265EC2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052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认领、跟进、转化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6A8F4D-28BF-474D-B133-FA999A55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需要客户配合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8E31DD-23E1-43D9-81D8-283415A1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首批账号  /  对应项目  /  样例数据或接口条件  /  字段口径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E83AA0-01DF-4F49-8456-2390EA97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会后确认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08351C-AB2F-4556-AE45-A773511C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接入方式  ·  重复客资  ·  同步周期  ·  失败重试  ·  授权边界</a:t>
            </a:r>
          </a:p>
        </p:txBody>
      </p:sp>
    </p:spTree>
    <p:extLst>
      <p:ext uri="{BB962C8B-B14F-4D97-AF65-F5344CB8AC3E}">
        <p14:creationId xmlns:p14="http://schemas.microsoft.com/office/powerpoint/2010/main" val="5006089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AEB63C-C831-4415-B3E1-0D03F82D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B25AE-BEDA-41A3-AB11-CD6D9225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渠道经营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8E8E0-8BC3-4D54-9E6D-5F446128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下一步要解决：到底哪个渠道带来了成交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0C5C1-9A99-4E71-8BAD-A06F22C3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6E7AA-355C-4D7E-A268-F0EC9E47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77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LIANG YU ENGINE  /  CRM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B40AA-A3E7-4F9F-AD31-CA7DE1C4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AA95A-5518-42F7-AE40-BAA21F87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把来源和成交结果连起来，才能判断问题出在哪里。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549722-A807-4E37-8EAC-4F28F269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3FDBE-1B8E-4E67-9D65-737A68A5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账号 / 视频 / 直播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4E56B-9047-4EC7-A20D-4252C467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00425"/>
            <a:ext cx="3619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7A69BE-44FD-4210-BF32-4183B9B5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6705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A67E42-4FFD-4332-B01A-EB406066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8612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客资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0DCE40-F480-4488-BA02-879B1A77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00425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E28891-5BCF-4E4B-846E-231D90BE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6705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34B1DB-5105-4887-9549-7E27EB61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8612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添加企微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0D05C2-49EC-484E-9F98-B182C2D2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00425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6F6F52-E155-43A2-A906-7E810593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81DDB2-DEFE-4BCB-9863-8BD11740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8612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首次沟通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4DC100-0732-44B5-B761-975890AE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00425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0EBF96-F66A-4BF4-B7DA-03834399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6705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E4E81D-6614-4338-BE01-0FFC5197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8612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到访 / 寄样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438C52-A573-46C0-9706-AD07FA80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00425"/>
            <a:ext cx="6191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637267-7FEA-4FF6-8532-9E6E6306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6705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9525">
            <a:solidFill>
              <a:srgbClr val="2348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6AEBC1-0F3C-4A29-9A11-B2EE75AB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28612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成交 / 回款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AF125F-592F-4886-A5BD-EECB274F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客户能看到的结果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E2965B-50E4-4430-823F-764F9251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2857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8D5C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536651-AE43-46C6-A0CD-0850C94C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来源客资数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C51CF6-46C7-4360-A3CB-901D275E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按账号、项目和来源查看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930244-D0B3-43E5-B3FC-08BFEB74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105400"/>
            <a:ext cx="2857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348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50F3D1-7A72-4F3F-8D92-EE75DC31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2578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承接与成交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7546FC-AB33-4CAB-819D-F5985F0A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600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看添加、沟通、到访和成交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87E521-55FA-4C8C-A75C-A10D08F5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105400"/>
            <a:ext cx="2857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8D5C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A7FF91-40E7-471D-AADD-A5DF5984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578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问题定位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4BAA07-DEA2-4C2A-8BBE-F769A028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00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区分流量、质量和跟进问题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9FA216-7F82-406E-A6D7-711B5DD9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投放成本和 ROI 可作为后续扩展口径，需结合客户数据条件确认。</a:t>
            </a:r>
          </a:p>
        </p:txBody>
      </p:sp>
    </p:spTree>
    <p:extLst>
      <p:ext uri="{BB962C8B-B14F-4D97-AF65-F5344CB8AC3E}">
        <p14:creationId xmlns:p14="http://schemas.microsoft.com/office/powerpoint/2010/main" val="15033395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2EF70E-1E1F-49B2-B1B8-C4402C64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220DA-B983-40A1-9633-3301892C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私域承接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A460B-59B3-4483-A45F-3E512491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下一步要解决：客户加企微后有没有真正被承接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C0918-949C-4D02-A666-57DB8C30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34611-4EA1-4E33-A360-E97D7F9B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77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LIANG YU ENGINE  /  CRM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22BF1-D5BF-4F4E-AEB2-A9C82C4E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D8F903-8A35-4D02-A118-34F30E19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项目群里发过消息，不等于客户已经进入沟通。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991B00-6E49-4D55-8F62-0962F138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E1632B-80EF-43E4-ADCE-C25CB5D6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845AA6-1524-4809-A8C9-00FC5E54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已分配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79316-B810-402D-AE04-75AF2CE2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14097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FD2623-FBC0-4331-AFEB-ABBB60A2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05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76C3DC-A651-4455-8B2A-6B7C31B8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09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2CC573-8427-478C-9642-2334F18D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448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已认领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217E26-C341-4951-BE54-7166D9C4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05150"/>
            <a:ext cx="14097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DA9AA4-2610-4141-9158-4F8A2752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05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902EF9-18D3-44EA-B89E-98B807ED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09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8966EF-22D5-4CAB-A9E0-08F4621D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48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已添加企微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9E3919-BD62-472C-8F3D-4789257D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05150"/>
            <a:ext cx="14097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3AB95C-471E-4B16-8D12-2BB5BD9C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05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ED04D6-9ED9-4412-A53A-0EB3E91C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9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1FFCFD-732D-4DE7-AF37-C8BBD745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448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客户通过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922A77-7CA8-47AB-A758-E9A8B02F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05150"/>
            <a:ext cx="14097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F5A64D-2D53-4044-915E-DD47C09E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05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CDDE5F-6154-41CB-880B-E6D0872E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09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53DFA7-629B-4C79-B4EE-A4B088CD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48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首次沟通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DCABC2-87A1-4DD8-BE54-233C4FC8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05150"/>
            <a:ext cx="14097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AD8664-F559-40D7-A94B-D03A4736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05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071730-F66B-4D44-B5D1-CCBE0E42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09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1327F8-6340-4255-BCEB-9984D844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48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持续跟进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BEA29A-4F04-4C80-89C7-84CD1F7A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DC6E70-2705-483C-975D-5EFDBD05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可以形成的管理视图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083098-2199-4B1F-9250-F36CC837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未添加名单   ·   超时未首次沟通   ·   响应时长   ·   项目承接对比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3CC21E-A072-4C61-94A8-221A4B90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前提：客户确认企业微信主体、可用接口或第三方能力，以及数据授权范围。</a:t>
            </a:r>
          </a:p>
        </p:txBody>
      </p:sp>
    </p:spTree>
    <p:extLst>
      <p:ext uri="{BB962C8B-B14F-4D97-AF65-F5344CB8AC3E}">
        <p14:creationId xmlns:p14="http://schemas.microsoft.com/office/powerpoint/2010/main" val="3917587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7B0EC5-527B-4A9C-9724-99E566EE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F9BE8-F829-40F0-8D40-06A9A30B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客户培育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660FD-5688-41B8-9B50-F1ECAC67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下一步要解决：未成交客户如何持续经营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E23ED-CF6E-4DE3-A9AF-5FEB17E3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6C067-7494-4AF4-8679-311DECAE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77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LIANG YU ENGINE  /  CRM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425B6-D305-426C-946D-4D046E04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F3FE16-CA64-4892-9A9B-F46C5C51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把客户按状态分开经营，减少漏跟，也让一次性线索有机会变成长期客户。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1B9A5-76EA-4C84-B718-9362A9A6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分层依据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7C0CBE-1AF0-4E5A-AAA8-4F6FF562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solidFill>
              <a:srgbClr val="2348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9C886A-5B16-464C-8C34-0F86988E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AE1699-4981-4886-B47A-58D20E54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4800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0F5354-5C43-4E70-8421-25AF6AB8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146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意向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1D646-6A9A-484F-B6ED-29F449E8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4800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25AB87-7A35-4E46-9BA2-83E71B25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146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是否加企微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7AF147-6D22-42D3-A0AB-E9A0EB03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9BC3EE-CFFF-45CF-A3B7-A0BA5C7E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是否到访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3C45B9-E81A-4B72-8AC2-5FBB9C5F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E31EBC-92D6-4EFC-9E67-179A63BB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718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最近联系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620F9A-956A-459F-9168-5162367F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50520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0ED5C4-6365-4F7E-88C2-F3AF0154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5718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成交 / 复购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577A98-F416-487B-BF16-D646F47A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4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培育场景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56A597-E0D2-4DDF-BAA5-0DE12684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80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solidFill>
              <a:srgbClr val="2348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73F5B2-5181-44FC-89B6-C73D4FC8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146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新客欢迎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DEC762-1C11-4F22-9C74-E65EA705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480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8D1CDD-9CD6-4EE5-8C93-BB042043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146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未响应补联系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1CACAB-4FCD-4BFF-A562-8646FF0C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052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E71BE4-A61C-4200-82D4-DC11F486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718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到访后回访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C71DD0-903B-40BA-BBAF-EFEF998E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052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97EBA8-05C4-49B6-B84C-1FED547A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718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长期培育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C1DEE8-A58E-41E5-92F0-9B44619D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624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5DA526-1BB8-4817-95E0-B36182FF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290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沉默唤醒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6D695F-7531-4C66-92E3-09BA8910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624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598309-5F70-489E-8822-7BBEEF38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290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成交后复购 / 转介绍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8B1A76-08C1-4D56-AEBC-523BE4DC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70D978-A8A2-4690-923D-092FEDE6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任务管理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BB1CA3-3D8A-4C29-951F-FF7B75D6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482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安排员工今天做什么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6D3D02-E85F-4833-900A-F9E697E4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482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客户培育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F12386-70A0-43E8-B3F0-78243918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48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根据客户状态持续经营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07793A-F24D-416A-A280-7DD08066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这两项能力职责不同，可以分阶段规划。</a:t>
            </a:r>
          </a:p>
        </p:txBody>
      </p:sp>
    </p:spTree>
    <p:extLst>
      <p:ext uri="{BB962C8B-B14F-4D97-AF65-F5344CB8AC3E}">
        <p14:creationId xmlns:p14="http://schemas.microsoft.com/office/powerpoint/2010/main" val="3952268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2026-09-14T02:52:20.4370000Z</dcterms:created>
  <dcterms:modified xsi:type="dcterms:W3CDTF">2026-09-14T02:52:20.4370000Z</dcterms:modified>
</coreProperties>
</file>